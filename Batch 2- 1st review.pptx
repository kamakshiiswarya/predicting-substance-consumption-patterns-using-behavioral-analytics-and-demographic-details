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1458" r:id="rId3"/>
    <p:sldId id="1331" r:id="rId4"/>
    <p:sldId id="1448" r:id="rId5"/>
    <p:sldId id="1453" r:id="rId6"/>
    <p:sldId id="1459" r:id="rId7"/>
    <p:sldId id="1454" r:id="rId8"/>
    <p:sldId id="1461" r:id="rId9"/>
    <p:sldId id="1462" r:id="rId10"/>
    <p:sldId id="1463" r:id="rId11"/>
    <p:sldId id="1464" r:id="rId12"/>
    <p:sldId id="1465" r:id="rId13"/>
    <p:sldId id="1452" r:id="rId14"/>
    <p:sldId id="1450" r:id="rId15"/>
    <p:sldId id="1433" r:id="rId16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E4463B"/>
    <a:srgbClr val="E34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178AD8-F4D9-4F6C-947C-BE1C0953FE92}" v="13" dt="2025-10-29T10:44:07.3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598" autoAdjust="0"/>
  </p:normalViewPr>
  <p:slideViewPr>
    <p:cSldViewPr snapToGrid="0">
      <p:cViewPr varScale="1">
        <p:scale>
          <a:sx n="82" d="100"/>
          <a:sy n="82" d="100"/>
        </p:scale>
        <p:origin x="150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3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akshi Iswarya" userId="de7a915746805e67" providerId="LiveId" clId="{1350C8F5-DFAB-49A5-A210-D85427E91D7B}"/>
    <pc:docChg chg="undo custSel delSld modSld">
      <pc:chgData name="Kamakshi Iswarya" userId="de7a915746805e67" providerId="LiveId" clId="{1350C8F5-DFAB-49A5-A210-D85427E91D7B}" dt="2025-10-29T10:44:57.665" v="145" actId="948"/>
      <pc:docMkLst>
        <pc:docMk/>
      </pc:docMkLst>
      <pc:sldChg chg="addSp modSp mod">
        <pc:chgData name="Kamakshi Iswarya" userId="de7a915746805e67" providerId="LiveId" clId="{1350C8F5-DFAB-49A5-A210-D85427E91D7B}" dt="2025-10-29T10:44:57.665" v="145" actId="948"/>
        <pc:sldMkLst>
          <pc:docMk/>
          <pc:sldMk cId="0" sldId="1454"/>
        </pc:sldMkLst>
        <pc:spChg chg="add">
          <ac:chgData name="Kamakshi Iswarya" userId="de7a915746805e67" providerId="LiveId" clId="{1350C8F5-DFAB-49A5-A210-D85427E91D7B}" dt="2025-10-29T10:42:45.499" v="125"/>
          <ac:spMkLst>
            <pc:docMk/>
            <pc:sldMk cId="0" sldId="1454"/>
            <ac:spMk id="2" creationId="{C833216D-0017-6C63-4E85-2030835F1CD4}"/>
          </ac:spMkLst>
        </pc:spChg>
        <pc:spChg chg="mod">
          <ac:chgData name="Kamakshi Iswarya" userId="de7a915746805e67" providerId="LiveId" clId="{1350C8F5-DFAB-49A5-A210-D85427E91D7B}" dt="2025-10-29T10:44:57.665" v="145" actId="948"/>
          <ac:spMkLst>
            <pc:docMk/>
            <pc:sldMk cId="0" sldId="1454"/>
            <ac:spMk id="16389" creationId="{6D1F14A3-A203-853E-95A3-C24B9CE59821}"/>
          </ac:spMkLst>
        </pc:spChg>
      </pc:sldChg>
      <pc:sldChg chg="modSp mod">
        <pc:chgData name="Kamakshi Iswarya" userId="de7a915746805e67" providerId="LiveId" clId="{1350C8F5-DFAB-49A5-A210-D85427E91D7B}" dt="2025-10-29T10:40:39.600" v="123" actId="114"/>
        <pc:sldMkLst>
          <pc:docMk/>
          <pc:sldMk cId="1347175932" sldId="1459"/>
        </pc:sldMkLst>
        <pc:spChg chg="mod">
          <ac:chgData name="Kamakshi Iswarya" userId="de7a915746805e67" providerId="LiveId" clId="{1350C8F5-DFAB-49A5-A210-D85427E91D7B}" dt="2025-10-29T10:40:39.600" v="123" actId="114"/>
          <ac:spMkLst>
            <pc:docMk/>
            <pc:sldMk cId="1347175932" sldId="1459"/>
            <ac:spMk id="15363" creationId="{26F45303-76E7-B30E-8286-5F5346CA6DFF}"/>
          </ac:spMkLst>
        </pc:spChg>
      </pc:sldChg>
      <pc:sldChg chg="modSp del mod">
        <pc:chgData name="Kamakshi Iswarya" userId="de7a915746805e67" providerId="LiveId" clId="{1350C8F5-DFAB-49A5-A210-D85427E91D7B}" dt="2025-10-29T10:38:42.032" v="102" actId="47"/>
        <pc:sldMkLst>
          <pc:docMk/>
          <pc:sldMk cId="426859187" sldId="1460"/>
        </pc:sldMkLst>
        <pc:spChg chg="mod">
          <ac:chgData name="Kamakshi Iswarya" userId="de7a915746805e67" providerId="LiveId" clId="{1350C8F5-DFAB-49A5-A210-D85427E91D7B}" dt="2025-10-29T09:58:27.519" v="60" actId="20577"/>
          <ac:spMkLst>
            <pc:docMk/>
            <pc:sldMk cId="426859187" sldId="1460"/>
            <ac:spMk id="15363" creationId="{907CBB48-3178-A1DB-2A53-18C490A191B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DE1330-38DC-FB74-73BA-004F762563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DC0398-6F2D-1943-6B50-FCCD91FA63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880BDB6-B0BE-4DB0-909D-F99DFF44ED42}" type="datetimeFigureOut">
              <a:rPr lang="en-IN"/>
              <a:pPr>
                <a:defRPr/>
              </a:pPr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31E36-AC3D-651D-6D9E-4CE039021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9C2220-EBE0-EC81-3907-523A20CAD7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FE9248A-B95D-4E6D-A2FF-4C9A6475711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934C672-A0B9-3CD0-4363-BE45425553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D973F-E43C-1776-84DB-BAA2973C098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508538C-AC1A-4D11-9765-92F998B576F4}" type="datetimeFigureOut">
              <a:rPr lang="en-US"/>
              <a:pPr>
                <a:defRPr/>
              </a:pPr>
              <a:t>10/29/2025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3ADCF6F-498B-D3DC-F619-7E5FAA95F3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677700C-4396-88B8-CD03-06F5641F1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DFDF5-3717-C7CD-5B93-800D56D570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0BF28-9CFA-F516-E36D-FF8A334DA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8896794-9A5A-4B7D-9F53-9D5DA59E2A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-Shape 1">
            <a:extLst>
              <a:ext uri="{FF2B5EF4-FFF2-40B4-BE49-F238E27FC236}">
                <a16:creationId xmlns:a16="http://schemas.microsoft.com/office/drawing/2014/main" id="{892A5844-EB1C-7644-57F0-5E87CB85806E}"/>
              </a:ext>
            </a:extLst>
          </p:cNvPr>
          <p:cNvSpPr/>
          <p:nvPr userDrawn="1"/>
        </p:nvSpPr>
        <p:spPr>
          <a:xfrm rot="10800000">
            <a:off x="1916113" y="0"/>
            <a:ext cx="7227887" cy="5175250"/>
          </a:xfrm>
          <a:prstGeom prst="corner">
            <a:avLst>
              <a:gd name="adj1" fmla="val 1588"/>
              <a:gd name="adj2" fmla="val 1422"/>
            </a:avLst>
          </a:prstGeom>
          <a:solidFill>
            <a:srgbClr val="E4463B"/>
          </a:solidFill>
          <a:ln>
            <a:solidFill>
              <a:srgbClr val="E446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L-Shape 2">
            <a:extLst>
              <a:ext uri="{FF2B5EF4-FFF2-40B4-BE49-F238E27FC236}">
                <a16:creationId xmlns:a16="http://schemas.microsoft.com/office/drawing/2014/main" id="{6505BF5F-CBFA-FA62-7BD1-CFF62E4E49CD}"/>
              </a:ext>
            </a:extLst>
          </p:cNvPr>
          <p:cNvSpPr/>
          <p:nvPr userDrawn="1"/>
        </p:nvSpPr>
        <p:spPr>
          <a:xfrm>
            <a:off x="0" y="1682750"/>
            <a:ext cx="7227888" cy="5175250"/>
          </a:xfrm>
          <a:prstGeom prst="corner">
            <a:avLst>
              <a:gd name="adj1" fmla="val 1588"/>
              <a:gd name="adj2" fmla="val 1422"/>
            </a:avLst>
          </a:prstGeom>
          <a:solidFill>
            <a:srgbClr val="E4463B"/>
          </a:solidFill>
          <a:ln>
            <a:solidFill>
              <a:srgbClr val="E446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198F1301-60B8-EDCE-FCFF-8FF41A402DC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359650" y="6607175"/>
            <a:ext cx="1617663" cy="2508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US" altLang="en-US" sz="900" b="1">
                <a:solidFill>
                  <a:srgbClr val="7F7F7F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       Pg. </a:t>
            </a:r>
            <a:fld id="{134936F6-54BE-440D-AEDD-DC9993E9AFD1}" type="slidenum">
              <a:rPr lang="en-US" altLang="en-US" sz="900" b="1" smtClean="0">
                <a:solidFill>
                  <a:srgbClr val="7F7F7F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pPr eaLnBrk="1" hangingPunct="1">
                <a:spcAft>
                  <a:spcPts val="600"/>
                </a:spcAft>
                <a:defRPr/>
              </a:pPr>
              <a:t>‹#›</a:t>
            </a:fld>
            <a:endParaRPr lang="en-US" altLang="en-US" sz="900" b="1">
              <a:solidFill>
                <a:srgbClr val="7F7F7F"/>
              </a:solidFill>
              <a:latin typeface="Century Gothic" panose="020B0502020202020204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17">
            <a:extLst>
              <a:ext uri="{FF2B5EF4-FFF2-40B4-BE49-F238E27FC236}">
                <a16:creationId xmlns:a16="http://schemas.microsoft.com/office/drawing/2014/main" id="{83EC9D48-BC74-429C-35B6-4FC8D8CC16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538" y="177800"/>
            <a:ext cx="22764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868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6C2636-9C1A-C00A-4BBE-16F04917BD18}"/>
              </a:ext>
            </a:extLst>
          </p:cNvPr>
          <p:cNvSpPr/>
          <p:nvPr userDrawn="1"/>
        </p:nvSpPr>
        <p:spPr>
          <a:xfrm>
            <a:off x="190500" y="263525"/>
            <a:ext cx="8763000" cy="63309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A0C007-9002-FFF9-4FBE-DB346C753CBD}"/>
              </a:ext>
            </a:extLst>
          </p:cNvPr>
          <p:cNvSpPr/>
          <p:nvPr userDrawn="1"/>
        </p:nvSpPr>
        <p:spPr bwMode="blackWhite">
          <a:xfrm>
            <a:off x="190500" y="263525"/>
            <a:ext cx="8763000" cy="207168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A9FBD0F9-8C8D-B96C-D7AB-86FA45ED1A7D}"/>
              </a:ext>
            </a:extLst>
          </p:cNvPr>
          <p:cNvSpPr/>
          <p:nvPr userDrawn="1"/>
        </p:nvSpPr>
        <p:spPr>
          <a:xfrm rot="10800000">
            <a:off x="1916113" y="0"/>
            <a:ext cx="7227887" cy="5175250"/>
          </a:xfrm>
          <a:prstGeom prst="corner">
            <a:avLst>
              <a:gd name="adj1" fmla="val 1588"/>
              <a:gd name="adj2" fmla="val 1422"/>
            </a:avLst>
          </a:prstGeom>
          <a:solidFill>
            <a:srgbClr val="E4463B"/>
          </a:solidFill>
          <a:ln>
            <a:solidFill>
              <a:srgbClr val="E446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L-Shape 4">
            <a:extLst>
              <a:ext uri="{FF2B5EF4-FFF2-40B4-BE49-F238E27FC236}">
                <a16:creationId xmlns:a16="http://schemas.microsoft.com/office/drawing/2014/main" id="{4B081B91-A52A-FC9F-0405-36F605754822}"/>
              </a:ext>
            </a:extLst>
          </p:cNvPr>
          <p:cNvSpPr/>
          <p:nvPr userDrawn="1"/>
        </p:nvSpPr>
        <p:spPr>
          <a:xfrm>
            <a:off x="0" y="1682750"/>
            <a:ext cx="7227888" cy="5175250"/>
          </a:xfrm>
          <a:prstGeom prst="corner">
            <a:avLst>
              <a:gd name="adj1" fmla="val 1588"/>
              <a:gd name="adj2" fmla="val 1422"/>
            </a:avLst>
          </a:prstGeom>
          <a:solidFill>
            <a:srgbClr val="E4463B"/>
          </a:solidFill>
          <a:ln>
            <a:solidFill>
              <a:srgbClr val="E446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4064ED4D-7BFF-5D53-FBE1-68F8048A8A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04150" y="6542088"/>
            <a:ext cx="781050" cy="2301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US" altLang="en-US" sz="900">
                <a:solidFill>
                  <a:srgbClr val="7F7F7F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Pg. </a:t>
            </a:r>
            <a:fld id="{B341FE4B-896A-443F-A925-59588A154E7C}" type="slidenum">
              <a:rPr lang="en-US" altLang="en-US" sz="900" smtClean="0">
                <a:solidFill>
                  <a:srgbClr val="7F7F7F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pPr eaLnBrk="1" hangingPunct="1">
                <a:spcAft>
                  <a:spcPts val="600"/>
                </a:spcAft>
                <a:defRPr/>
              </a:pPr>
              <a:t>‹#›</a:t>
            </a:fld>
            <a:endParaRPr lang="en-US" altLang="en-US" sz="900">
              <a:solidFill>
                <a:srgbClr val="7F7F7F"/>
              </a:solidFill>
              <a:latin typeface="Century Gothic" panose="020B0502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04622" y="2560320"/>
            <a:ext cx="7084314" cy="3977640"/>
          </a:xfrm>
        </p:spPr>
        <p:txBody>
          <a:bodyPr rtlCol="0">
            <a:normAutofit/>
          </a:bodyPr>
          <a:lstStyle>
            <a:lvl1pPr>
              <a:defRPr lang="en-US" sz="1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621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2AAEC32C-EB15-96F6-0DEA-DAD7082244D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42088" y="65055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1800"/>
              </a:lnSpc>
              <a:spcAft>
                <a:spcPts val="600"/>
              </a:spcAft>
              <a:defRPr/>
            </a:pPr>
            <a:endParaRPr lang="en-US" altLang="en-US" sz="12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F3CDB765-B4E2-FC66-7268-28C18925E2D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312150" y="43338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1800"/>
              </a:lnSpc>
              <a:spcAft>
                <a:spcPts val="600"/>
              </a:spcAft>
              <a:defRPr/>
            </a:pPr>
            <a:endParaRPr lang="en-US" altLang="en-US" sz="12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325" y="1604211"/>
            <a:ext cx="8237348" cy="4572752"/>
          </a:xfrm>
        </p:spPr>
        <p:txBody>
          <a:bodyPr>
            <a:normAutofit/>
          </a:bodyPr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1800"/>
            </a:lvl1pPr>
            <a:lvl2pPr marL="300990" indent="5715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16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628650" y="253514"/>
            <a:ext cx="6599246" cy="47991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342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325" y="1604211"/>
            <a:ext cx="8237348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1800"/>
            </a:lvl1pPr>
            <a:lvl2pPr marL="300990" indent="5715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14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28650" y="253514"/>
            <a:ext cx="6599246" cy="47991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12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18146" y="1507068"/>
            <a:ext cx="3541418" cy="4669896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300990" indent="5715" algn="l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12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987636" y="1507068"/>
            <a:ext cx="3666946" cy="4669896"/>
          </a:xfrm>
        </p:spPr>
        <p:txBody>
          <a:bodyPr anchor="ctr">
            <a:normAutofit/>
          </a:bodyPr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300990" indent="5715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12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28650" y="253514"/>
            <a:ext cx="6599246" cy="47991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77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628650" y="253514"/>
            <a:ext cx="6599246" cy="47991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37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908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628650" y="253514"/>
            <a:ext cx="6599246" cy="47991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259206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C07D5AD-DB01-1AF4-84D9-5231EE43D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54000"/>
            <a:ext cx="6599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92C3A79-69E2-E6B9-45E0-A9CBD8F37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6682CF-CFC0-397B-D055-29BDEF22AFAC}"/>
              </a:ext>
            </a:extLst>
          </p:cNvPr>
          <p:cNvCxnSpPr/>
          <p:nvPr/>
        </p:nvCxnSpPr>
        <p:spPr>
          <a:xfrm>
            <a:off x="49213" y="685800"/>
            <a:ext cx="7215187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TextBox 8">
            <a:extLst>
              <a:ext uri="{FF2B5EF4-FFF2-40B4-BE49-F238E27FC236}">
                <a16:creationId xmlns:a16="http://schemas.microsoft.com/office/drawing/2014/main" id="{7E26CA56-9062-C302-2B8B-B412C6A85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0175" y="1196975"/>
            <a:ext cx="685800" cy="914400"/>
          </a:xfrm>
          <a:prstGeom prst="rect">
            <a:avLst/>
          </a:prstGeom>
          <a:noFill/>
          <a:ln>
            <a:noFill/>
          </a:ln>
        </p:spPr>
        <p:txBody>
          <a:bodyPr wrap="none" lIns="68580" tIns="34290" rIns="68580" bIns="3429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1350"/>
              </a:lnSpc>
              <a:spcAft>
                <a:spcPts val="450"/>
              </a:spcAft>
              <a:defRPr/>
            </a:pPr>
            <a:endParaRPr lang="en-IN" altLang="en-US" sz="9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266F02-2B3F-4F6A-4DAA-C0CAC825FCEC}"/>
              </a:ext>
            </a:extLst>
          </p:cNvPr>
          <p:cNvSpPr txBox="1"/>
          <p:nvPr/>
        </p:nvSpPr>
        <p:spPr>
          <a:xfrm>
            <a:off x="8820150" y="449263"/>
            <a:ext cx="311150" cy="228600"/>
          </a:xfrm>
          <a:prstGeom prst="rect">
            <a:avLst/>
          </a:prstGeom>
        </p:spPr>
        <p:txBody>
          <a:bodyPr lIns="68580" tIns="34290" rIns="68580" bIns="34290"/>
          <a:lstStyle/>
          <a:p>
            <a:pPr eaLnBrk="1" fontAlgn="auto" hangingPunct="1">
              <a:lnSpc>
                <a:spcPts val="1350"/>
              </a:lnSpc>
              <a:spcBef>
                <a:spcPts val="0"/>
              </a:spcBef>
              <a:spcAft>
                <a:spcPts val="450"/>
              </a:spcAft>
              <a:defRPr/>
            </a:pPr>
            <a:endParaRPr lang="en-IN" sz="790" b="1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8BBEDF6E-BE1D-14A6-F8B5-ECAFE260905B}"/>
              </a:ext>
            </a:extLst>
          </p:cNvPr>
          <p:cNvSpPr/>
          <p:nvPr/>
        </p:nvSpPr>
        <p:spPr>
          <a:xfrm rot="10800000">
            <a:off x="1916113" y="0"/>
            <a:ext cx="7227887" cy="5175250"/>
          </a:xfrm>
          <a:prstGeom prst="corner">
            <a:avLst>
              <a:gd name="adj1" fmla="val 1588"/>
              <a:gd name="adj2" fmla="val 1422"/>
            </a:avLst>
          </a:prstGeom>
          <a:solidFill>
            <a:srgbClr val="E4463B"/>
          </a:solidFill>
          <a:ln>
            <a:solidFill>
              <a:srgbClr val="E446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35311BA8-1FC2-B853-2909-2A90CCC48BE2}"/>
              </a:ext>
            </a:extLst>
          </p:cNvPr>
          <p:cNvSpPr/>
          <p:nvPr/>
        </p:nvSpPr>
        <p:spPr>
          <a:xfrm>
            <a:off x="0" y="1682750"/>
            <a:ext cx="7227888" cy="5175250"/>
          </a:xfrm>
          <a:prstGeom prst="corner">
            <a:avLst>
              <a:gd name="adj1" fmla="val 1588"/>
              <a:gd name="adj2" fmla="val 1422"/>
            </a:avLst>
          </a:prstGeom>
          <a:solidFill>
            <a:srgbClr val="E4463B"/>
          </a:solidFill>
          <a:ln>
            <a:solidFill>
              <a:srgbClr val="E446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3" name="TextBox 12">
            <a:extLst>
              <a:ext uri="{FF2B5EF4-FFF2-40B4-BE49-F238E27FC236}">
                <a16:creationId xmlns:a16="http://schemas.microsoft.com/office/drawing/2014/main" id="{C11828E4-7220-D433-FDFF-889171B87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938" y="6491288"/>
            <a:ext cx="1462087" cy="177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US" altLang="en-US" sz="900">
                <a:solidFill>
                  <a:srgbClr val="7F7F7F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    Pg. </a:t>
            </a:r>
            <a:fld id="{88832FFB-06F7-4570-9B67-4E30458F47E2}" type="slidenum">
              <a:rPr lang="en-US" altLang="en-US" sz="900" smtClean="0">
                <a:solidFill>
                  <a:srgbClr val="7F7F7F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pPr eaLnBrk="1" hangingPunct="1">
                <a:spcAft>
                  <a:spcPts val="600"/>
                </a:spcAft>
                <a:defRPr/>
              </a:pPr>
              <a:t>‹#›</a:t>
            </a:fld>
            <a:endParaRPr lang="en-US" altLang="en-US" sz="900">
              <a:solidFill>
                <a:srgbClr val="7F7F7F"/>
              </a:solidFill>
              <a:latin typeface="Century Gothic" panose="020B0502020202020204" pitchFamily="34" charset="0"/>
              <a:cs typeface="Segoe UI" panose="020B0502040204020203" pitchFamily="34" charset="0"/>
            </a:endParaRPr>
          </a:p>
        </p:txBody>
      </p:sp>
      <p:pic>
        <p:nvPicPr>
          <p:cNvPr id="1034" name="Picture 14">
            <a:extLst>
              <a:ext uri="{FF2B5EF4-FFF2-40B4-BE49-F238E27FC236}">
                <a16:creationId xmlns:a16="http://schemas.microsoft.com/office/drawing/2014/main" id="{CB0356EA-5A84-E532-5CBB-C91A5860C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475" y="125413"/>
            <a:ext cx="177165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53" r:id="rId4"/>
    <p:sldLayoutId id="2147483854" r:id="rId5"/>
    <p:sldLayoutId id="2147483855" r:id="rId6"/>
    <p:sldLayoutId id="2147483856" r:id="rId7"/>
    <p:sldLayoutId id="2147483860" r:id="rId8"/>
  </p:sldLayoutIdLst>
  <p:hf hdr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sz="2100" b="1" kern="1200">
          <a:solidFill>
            <a:srgbClr val="C00000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12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scholar.google.com/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0E11F57-1A30-FD5F-E4ED-C0271A86E91F}"/>
              </a:ext>
            </a:extLst>
          </p:cNvPr>
          <p:cNvSpPr txBox="1"/>
          <p:nvPr/>
        </p:nvSpPr>
        <p:spPr>
          <a:xfrm>
            <a:off x="293687" y="5034383"/>
            <a:ext cx="8556625" cy="1773983"/>
          </a:xfrm>
          <a:prstGeom prst="rect">
            <a:avLst/>
          </a:prstGeom>
        </p:spPr>
        <p:txBody>
          <a:bodyPr/>
          <a:lstStyle/>
          <a:p>
            <a:pPr algn="ctr"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+mj-cs"/>
              </a:rPr>
              <a:t>Department of Computer Science And Engineering</a:t>
            </a:r>
            <a:br>
              <a:rPr lang="en-US" altLang="en-US" sz="20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+mj-cs"/>
              </a:rPr>
            </a:br>
            <a:r>
              <a:rPr lang="en-US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+mj-cs"/>
              </a:rPr>
              <a:t> S V COLLEGE OF ENGINEERING</a:t>
            </a:r>
            <a:endParaRPr lang="en-US" altLang="en-US" sz="2000" b="1" dirty="0">
              <a:solidFill>
                <a:srgbClr val="00B0F0"/>
              </a:solidFill>
              <a:latin typeface="Times New Roman" panose="02020603050405020304" pitchFamily="18" charset="0"/>
              <a:ea typeface="+mj-ea"/>
              <a:cs typeface="+mj-cs"/>
            </a:endParaRPr>
          </a:p>
          <a:p>
            <a:pPr algn="ctr"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0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+mj-cs"/>
              </a:rPr>
              <a:t>(Autonomous)  </a:t>
            </a:r>
          </a:p>
          <a:p>
            <a:pPr algn="ctr"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20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+mj-cs"/>
              </a:rPr>
              <a:t>Karakambadi Road, Opp. LIC Training Center</a:t>
            </a:r>
            <a:br>
              <a:rPr lang="en-US" altLang="en-US" sz="20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+mj-cs"/>
              </a:rPr>
            </a:br>
            <a:r>
              <a:rPr lang="en-US" altLang="en-US" sz="20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+mj-cs"/>
              </a:rPr>
              <a:t>Tirupati-517507</a:t>
            </a:r>
            <a:b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195" name="TextBox 5">
            <a:extLst>
              <a:ext uri="{FF2B5EF4-FFF2-40B4-BE49-F238E27FC236}">
                <a16:creationId xmlns:a16="http://schemas.microsoft.com/office/drawing/2014/main" id="{8BC4486A-70DF-482B-6419-65F7A4159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860800"/>
            <a:ext cx="441960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 defTabSz="68580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en-US" sz="16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Under The Guidance of 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.</a:t>
            </a:r>
            <a:r>
              <a:rPr lang="en-IN" alt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A.Ganesh</a:t>
            </a:r>
            <a:r>
              <a:rPr lang="en-IN" alt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alt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IN" altLang="en-US" sz="11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IN" altLang="en-US" sz="11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(PDF)</a:t>
            </a:r>
            <a:endParaRPr lang="en-US" altLang="en-US" sz="11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altLang="en-US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</a:t>
            </a:r>
          </a:p>
        </p:txBody>
      </p:sp>
      <p:sp>
        <p:nvSpPr>
          <p:cNvPr id="8196" name="TextBox 5">
            <a:extLst>
              <a:ext uri="{FF2B5EF4-FFF2-40B4-BE49-F238E27FC236}">
                <a16:creationId xmlns:a16="http://schemas.microsoft.com/office/drawing/2014/main" id="{D4AE0440-5DBE-2761-4823-A80913AA8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829" y="1731963"/>
            <a:ext cx="8070979" cy="2446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IN" altLang="en-GB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</a:rPr>
              <a:t>Presented By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CHILLAKURU KAMAKSHI ISWARYA 	   (22BFA05039) 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ASWINI                                                                 (22BFA05028) </a:t>
            </a:r>
          </a:p>
          <a:p>
            <a:pPr>
              <a:lnSpc>
                <a:spcPct val="150000"/>
              </a:lnSpc>
              <a:defRPr/>
            </a:pPr>
            <a:r>
              <a:rPr lang="fi-FI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K VENKATA MADHU HASITHA                 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(22BFA05030) 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PAVAN REDDY                                                    (22BFA05045) 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+mj-lt"/>
              </a:rPr>
              <a:t> </a:t>
            </a:r>
            <a:endParaRPr lang="en-US" dirty="0">
              <a:latin typeface="+mj-lt"/>
            </a:endParaRPr>
          </a:p>
        </p:txBody>
      </p:sp>
      <p:sp>
        <p:nvSpPr>
          <p:cNvPr id="8197" name="Rectangle 8">
            <a:extLst>
              <a:ext uri="{FF2B5EF4-FFF2-40B4-BE49-F238E27FC236}">
                <a16:creationId xmlns:a16="http://schemas.microsoft.com/office/drawing/2014/main" id="{DBD7A807-A699-98F6-7098-5F16BEC49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" y="936625"/>
            <a:ext cx="898525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15000"/>
              </a:lnSpc>
            </a:pPr>
            <a:r>
              <a:rPr lang="en-US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Predicting Substance Consumption Patterns Using Behavioral Analytics and Demographic Details</a:t>
            </a:r>
            <a:endParaRPr lang="en-IN" altLang="en-US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2">
            <a:extLst>
              <a:ext uri="{FF2B5EF4-FFF2-40B4-BE49-F238E27FC236}">
                <a16:creationId xmlns:a16="http://schemas.microsoft.com/office/drawing/2014/main" id="{732F0900-E00D-F9A3-A2FF-E94E4CC2E8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5263" y="96838"/>
            <a:ext cx="6929437" cy="63658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I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CF0A6-7F2C-E842-0FC0-B5EE7108250C}"/>
              </a:ext>
            </a:extLst>
          </p:cNvPr>
          <p:cNvSpPr/>
          <p:nvPr/>
        </p:nvSpPr>
        <p:spPr>
          <a:xfrm>
            <a:off x="344488" y="933450"/>
            <a:ext cx="8642350" cy="5205413"/>
          </a:xfrm>
          <a:prstGeom prst="rect">
            <a:avLst/>
          </a:prstGeom>
        </p:spPr>
        <p:txBody>
          <a:bodyPr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Abstract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 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Existing System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System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Algorithms 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Conclusions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600" b="1" dirty="0">
              <a:solidFill>
                <a:srgbClr val="0070C0"/>
              </a:solidFill>
              <a:latin typeface="+mn-lt"/>
            </a:endParaRPr>
          </a:p>
          <a:p>
            <a:pPr marL="571500" indent="-5715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600" b="1" dirty="0">
              <a:solidFill>
                <a:srgbClr val="0070C0"/>
              </a:solidFill>
              <a:latin typeface="+mn-lt"/>
            </a:endParaRPr>
          </a:p>
          <a:p>
            <a:pPr marL="571500" indent="-5715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marL="571500" indent="-5715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marL="571500" indent="-5715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600" b="1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FBFA3AF8-CCF5-390C-484C-6E76A5363059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7008813" cy="509587"/>
          </a:xfrm>
          <a:prstGeom prst="rect">
            <a:avLst/>
          </a:prstGeom>
          <a:noFill/>
          <a:effectLst/>
        </p:spPr>
        <p:txBody>
          <a:bodyPr anchor="ctr"/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ABSTRACT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B935EA07-2C34-2991-211D-ADC949FE87B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3544888"/>
            <a:ext cx="6067425" cy="1455737"/>
          </a:xfrm>
        </p:spPr>
        <p:txBody>
          <a:bodyPr/>
          <a:lstStyle/>
          <a:p>
            <a:pPr eaLnBrk="1" hangingPunct="1">
              <a:buFont typeface="Segoe UI" panose="020B0502040204020203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4" name="Content Placeholder 2">
            <a:extLst>
              <a:ext uri="{FF2B5EF4-FFF2-40B4-BE49-F238E27FC236}">
                <a16:creationId xmlns:a16="http://schemas.microsoft.com/office/drawing/2014/main" id="{CED3E69A-0BBF-A5DC-1BAA-5B6F54C05774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3724275"/>
            <a:ext cx="47625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090B668-51D9-B65A-B90D-F25D0F736372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849085"/>
            <a:ext cx="8724900" cy="4702629"/>
          </a:xfrm>
          <a:prstGeom prst="rect">
            <a:avLst/>
          </a:prstGeom>
          <a:noFill/>
          <a:effectLst/>
        </p:spPr>
        <p:txBody>
          <a:bodyPr anchor="t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defRPr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Substance use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become a major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health and social challenge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and classification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drug users can help prevent addiction and guide interventions.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framework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analyzes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demographic, socio-economic, psychological, and behavioral attributes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drug usage.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high-performance models —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are implemented to perform:</a:t>
            </a:r>
          </a:p>
          <a:p>
            <a:pPr marL="2228850" lvl="4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user classification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28850" lvl="4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Recency prediction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(when a person last used drugs)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intelligent, data-driven approach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early identification of at-risk individuals, enabling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prevention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policy-level support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Learning, Random Forest,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Drug Prediction, Behavioral Analytics, Early Detection, Recency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408EC7F1-C38E-CC7D-C16E-F2C807ACA0C5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7008813" cy="509587"/>
          </a:xfrm>
          <a:prstGeom prst="rect">
            <a:avLst/>
          </a:prstGeom>
          <a:noFill/>
          <a:effectLst/>
        </p:spPr>
        <p:txBody>
          <a:bodyPr anchor="ctr"/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B445CF9F-743E-756D-F0F3-85EE00DA2CA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3544888"/>
            <a:ext cx="6067425" cy="1455737"/>
          </a:xfrm>
        </p:spPr>
        <p:txBody>
          <a:bodyPr/>
          <a:lstStyle/>
          <a:p>
            <a:pPr eaLnBrk="1" hangingPunct="1">
              <a:buFont typeface="Segoe UI" panose="020B0502040204020203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8" name="Content Placeholder 2">
            <a:extLst>
              <a:ext uri="{FF2B5EF4-FFF2-40B4-BE49-F238E27FC236}">
                <a16:creationId xmlns:a16="http://schemas.microsoft.com/office/drawing/2014/main" id="{02E208E8-53D5-06A6-20D8-F15AAB8BB83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3724275"/>
            <a:ext cx="47625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0071D1C-6C2C-A77B-C605-BD44F74FE9F0}"/>
              </a:ext>
            </a:extLst>
          </p:cNvPr>
          <p:cNvSpPr txBox="1">
            <a:spLocks noChangeArrowheads="1"/>
          </p:cNvSpPr>
          <p:nvPr/>
        </p:nvSpPr>
        <p:spPr>
          <a:xfrm>
            <a:off x="284163" y="849087"/>
            <a:ext cx="8332787" cy="6148614"/>
          </a:xfrm>
          <a:prstGeom prst="rect">
            <a:avLst/>
          </a:prstGeom>
          <a:noFill/>
          <a:effectLst/>
        </p:spPr>
        <p:txBody>
          <a:bodyPr/>
          <a:lstStyle/>
          <a:p>
            <a:pPr algn="just" defTabSz="685800" eaLnBrk="1" fontAlgn="auto" hangingPunct="1">
              <a:spcAft>
                <a:spcPts val="0"/>
              </a:spcAft>
              <a:defRPr/>
            </a:pPr>
            <a:endParaRPr lang="en-US" sz="2400" b="1" dirty="0"/>
          </a:p>
          <a:p>
            <a:pPr algn="just" defTabSz="685800" eaLnBrk="1" fontAlgn="auto" hangingPunct="1">
              <a:spcAft>
                <a:spcPts val="0"/>
              </a:spcAft>
              <a:defRPr/>
            </a:pPr>
            <a:endParaRPr lang="en-US" sz="2400" b="1" dirty="0"/>
          </a:p>
          <a:p>
            <a:pPr algn="just" defTabSz="685800" eaLnBrk="1" fontAlgn="auto" hangingPunct="1">
              <a:spcAft>
                <a:spcPts val="0"/>
              </a:spcAft>
              <a:defRPr/>
            </a:pPr>
            <a:endParaRPr lang="en-US" sz="2400" b="1" dirty="0"/>
          </a:p>
          <a:p>
            <a:pPr marL="342900" indent="-342900" algn="just" defTabSz="6858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Drug addiction is a serious public health issue affecting both individuals and society.</a:t>
            </a:r>
          </a:p>
          <a:p>
            <a:pPr marL="342900" indent="-342900" algn="just" defTabSz="6858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Traditional detection methods rely on medical tests or self-reports, which are often inaccurate.</a:t>
            </a:r>
          </a:p>
          <a:p>
            <a:pPr marL="342900" indent="-342900" algn="just" defTabSz="6858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Machine learning can help analyze behavioral, psychological, and demographic data to detect risk early.</a:t>
            </a:r>
          </a:p>
          <a:p>
            <a:pPr marL="342900" indent="-342900" algn="just" defTabSz="6858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This project aims to build a predictive model to identify drug users and estimate the recency of their usage.</a:t>
            </a:r>
            <a:endParaRPr lang="en-US" sz="2400" b="1" dirty="0"/>
          </a:p>
        </p:txBody>
      </p:sp>
      <p:sp>
        <p:nvSpPr>
          <p:cNvPr id="11270" name="Rectangle 7">
            <a:extLst>
              <a:ext uri="{FF2B5EF4-FFF2-40B4-BE49-F238E27FC236}">
                <a16:creationId xmlns:a16="http://schemas.microsoft.com/office/drawing/2014/main" id="{4BAC0A64-9F99-C8B4-6AF2-313618A859F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66750" y="4500563"/>
            <a:ext cx="7308850" cy="46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CEC074E6-0BFE-6959-5EA4-A54E84F7E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1005738"/>
            <a:ext cx="8020050" cy="507831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16A1B201-42AB-73C4-8C85-37D8E36DF86E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6762750" cy="509587"/>
          </a:xfrm>
          <a:prstGeom prst="rect">
            <a:avLst/>
          </a:prstGeom>
          <a:noFill/>
          <a:effectLst/>
        </p:spPr>
        <p:txBody>
          <a:bodyPr anchor="ctr">
            <a:normAutofit fontScale="25000" lnSpcReduction="20000"/>
          </a:bodyPr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1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EXISTING SYSTEM</a:t>
            </a: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620C27FC-E736-C946-CA6D-17D6B2C6BB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9550" y="781050"/>
            <a:ext cx="8382000" cy="477837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buNone/>
              <a:defRPr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and Physiological Insights into Substance Use via Feature Selection and Descriptive Analytics — IEEE, 2025.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  <a:p>
            <a:pPr>
              <a:lnSpc>
                <a:spcPct val="100000"/>
              </a:lnSpc>
              <a:spcBef>
                <a:spcPts val="300"/>
              </a:spcBef>
              <a:buSzPct val="10000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Addiction rehabilitation centers in Amman, Jordan; behavioral and physiological indicators collected from clinical settings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Applied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Feature selection via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RFE, Chi-Square; descriptive analytics and correlation analysis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Smoking (93.59%), lying (99.1%), and irritability (96.09%) emerged as strong substance use indicators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  <a:defRPr/>
            </a:pPr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07672-30DB-8DB3-9AED-A618887CB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4F203BAC-57E9-A285-2E2E-4DD5F9E590D8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6762750" cy="509587"/>
          </a:xfrm>
          <a:prstGeom prst="rect">
            <a:avLst/>
          </a:prstGeom>
          <a:noFill/>
          <a:effectLst/>
        </p:spPr>
        <p:txBody>
          <a:bodyPr anchor="ctr">
            <a:normAutofit fontScale="25000" lnSpcReduction="20000"/>
          </a:bodyPr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1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EXISTING SYSTEM</a:t>
            </a: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26F45303-76E7-B30E-8286-5F5346CA6D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9549" y="781050"/>
            <a:ext cx="9009095" cy="645950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400"/>
              </a:spcAft>
              <a:buSzPct val="100000"/>
              <a:buNone/>
              <a:defRPr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Existing System</a:t>
            </a:r>
          </a:p>
          <a:p>
            <a:pPr marL="457200" indent="-457200">
              <a:lnSpc>
                <a:spcPct val="150000"/>
              </a:lnSpc>
              <a:spcBef>
                <a:spcPts val="200"/>
              </a:spcBef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Access Data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The existing system relied mainly on physiological and observable symptoms such as skin color, fatigue pallor, and redness, which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measure accurately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clinical observation.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Timeline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The reference study could only identify whether certain features were correlated with substance use, but it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 to estimate when the person last consumed drugs</a:t>
            </a:r>
            <a:r>
              <a:rPr lang="en-US" sz="2000" dirty="0"/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It included nearly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features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irritability, fatigue, skin redness, and motivation loss, but the sample size was too small to ensure reliable generalization.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buSzPct val="100000"/>
              <a:defRPr/>
            </a:pPr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17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9DEF22F3-D8B3-8EE9-C7FD-8ED92BDA36F0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6762750" cy="509587"/>
          </a:xfrm>
          <a:prstGeom prst="rect">
            <a:avLst/>
          </a:prstGeom>
          <a:noFill/>
          <a:effectLst/>
        </p:spPr>
        <p:txBody>
          <a:bodyPr anchor="ctr">
            <a:normAutofit fontScale="25000" lnSpcReduction="20000"/>
          </a:bodyPr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1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PROPOSED SYSTEM</a:t>
            </a: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EA34500C-2E57-C553-8732-0A5CE20CA33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3544888"/>
            <a:ext cx="6067425" cy="1455737"/>
          </a:xfrm>
        </p:spPr>
        <p:txBody>
          <a:bodyPr/>
          <a:lstStyle/>
          <a:p>
            <a:pPr eaLnBrk="1" hangingPunct="1">
              <a:buFont typeface="Segoe UI" panose="020B0502040204020203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Content Placeholder 2">
            <a:extLst>
              <a:ext uri="{FF2B5EF4-FFF2-40B4-BE49-F238E27FC236}">
                <a16:creationId xmlns:a16="http://schemas.microsoft.com/office/drawing/2014/main" id="{AAA9380E-4F77-06B8-3CC6-8E8DF771C95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3724275"/>
            <a:ext cx="47625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sp>
        <p:nvSpPr>
          <p:cNvPr id="16389" name="TextBox 2">
            <a:extLst>
              <a:ext uri="{FF2B5EF4-FFF2-40B4-BE49-F238E27FC236}">
                <a16:creationId xmlns:a16="http://schemas.microsoft.com/office/drawing/2014/main" id="{6D1F14A3-A203-853E-95A3-C24B9CE59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29" y="731838"/>
            <a:ext cx="8929395" cy="496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develop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predictive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advances beyond correlation analysis to actionable predictions: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and demographic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whether a person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user or non-user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recency of drug consumption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classifying the timeframe such as last 24 hours, month, year, or never.</a:t>
            </a: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Feature Elimination (RFE)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the most relevant and predictive features.</a:t>
            </a: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compare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algorithms to achieve accurate and generalizable results.</a:t>
            </a: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final model through a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prediction and practical use.</a:t>
            </a: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D7F33-32C7-19F9-0874-F894FD24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001443A3-C52B-F4EF-546D-218169FE7521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6762750" cy="509587"/>
          </a:xfrm>
          <a:prstGeom prst="rect">
            <a:avLst/>
          </a:prstGeom>
          <a:noFill/>
          <a:effectLst/>
        </p:spPr>
        <p:txBody>
          <a:bodyPr anchor="ctr">
            <a:normAutofit fontScale="25000" lnSpcReduction="20000"/>
          </a:bodyPr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1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PROPOSED SYSTEM</a:t>
            </a: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33C0D313-D6FB-7310-1A4A-2FED8A793E7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3544888"/>
            <a:ext cx="6067425" cy="1455737"/>
          </a:xfrm>
        </p:spPr>
        <p:txBody>
          <a:bodyPr/>
          <a:lstStyle/>
          <a:p>
            <a:pPr eaLnBrk="1" hangingPunct="1">
              <a:buFont typeface="Segoe UI" panose="020B0502040204020203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Content Placeholder 2">
            <a:extLst>
              <a:ext uri="{FF2B5EF4-FFF2-40B4-BE49-F238E27FC236}">
                <a16:creationId xmlns:a16="http://schemas.microsoft.com/office/drawing/2014/main" id="{91BD3BF2-137D-A00F-93BA-72C5EA67DB3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3724275"/>
            <a:ext cx="47625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sp>
        <p:nvSpPr>
          <p:cNvPr id="16389" name="TextBox 2">
            <a:extLst>
              <a:ext uri="{FF2B5EF4-FFF2-40B4-BE49-F238E27FC236}">
                <a16:creationId xmlns:a16="http://schemas.microsoft.com/office/drawing/2014/main" id="{0C9D5515-4F85-A7F7-611A-5B520D155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29" y="731838"/>
            <a:ext cx="8929395" cy="1093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Research Flow</a:t>
            </a:r>
          </a:p>
          <a:p>
            <a:pPr algn="just">
              <a:lnSpc>
                <a:spcPct val="150000"/>
              </a:lnSpc>
            </a:pPr>
            <a:endParaRPr lang="en-I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AEB4A2-C232-02B4-C3D1-A00271B72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651" y="1688841"/>
            <a:ext cx="5196697" cy="4437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247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5CD84-F7A1-674F-026E-EB3C606FD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284AC67A-5344-52D9-311F-49948C466AF7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6762750" cy="509587"/>
          </a:xfrm>
          <a:prstGeom prst="rect">
            <a:avLst/>
          </a:prstGeom>
          <a:noFill/>
          <a:effectLst/>
        </p:spPr>
        <p:txBody>
          <a:bodyPr anchor="ctr">
            <a:normAutofit fontScale="25000" lnSpcReduction="20000"/>
          </a:bodyPr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1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ALGORITHMS</a:t>
            </a: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C8CB9149-7B98-530D-49FB-5C5A8202223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3544888"/>
            <a:ext cx="6067425" cy="1455737"/>
          </a:xfrm>
        </p:spPr>
        <p:txBody>
          <a:bodyPr/>
          <a:lstStyle/>
          <a:p>
            <a:pPr eaLnBrk="1" hangingPunct="1">
              <a:buFont typeface="Segoe UI" panose="020B0502040204020203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Content Placeholder 2">
            <a:extLst>
              <a:ext uri="{FF2B5EF4-FFF2-40B4-BE49-F238E27FC236}">
                <a16:creationId xmlns:a16="http://schemas.microsoft.com/office/drawing/2014/main" id="{D8A790AF-E98B-7E1E-A896-29B40FA2D14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3724275"/>
            <a:ext cx="47625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sp>
        <p:nvSpPr>
          <p:cNvPr id="16389" name="TextBox 2">
            <a:extLst>
              <a:ext uri="{FF2B5EF4-FFF2-40B4-BE49-F238E27FC236}">
                <a16:creationId xmlns:a16="http://schemas.microsoft.com/office/drawing/2014/main" id="{F6370B71-EA1A-5E55-2559-ABBEC6D33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29" y="731838"/>
            <a:ext cx="8929395" cy="57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230A7513-919D-7874-54BA-15B6B20B94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6245" y="3276599"/>
            <a:ext cx="3278155" cy="327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1484333A-7B8D-39DA-2152-1B2C3510C2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38511" y="1233681"/>
            <a:ext cx="2870233" cy="287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73AB1C24-F931-E41B-AA24-054A1A7D30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15412" y="3276600"/>
            <a:ext cx="2708988" cy="270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1FDF4158-9158-E2D0-C85B-5C09F377BD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6047A2-7778-FED8-F2AB-D25C5F793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627" y="2013760"/>
            <a:ext cx="3986313" cy="32781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81805A-2056-ACE0-AFCF-A21BCF275AAC}"/>
              </a:ext>
            </a:extLst>
          </p:cNvPr>
          <p:cNvSpPr txBox="1"/>
          <p:nvPr/>
        </p:nvSpPr>
        <p:spPr>
          <a:xfrm>
            <a:off x="237735" y="1652062"/>
            <a:ext cx="47625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Simple Idea</a:t>
            </a: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asking 100 different experts the same question—each expert looks at different information. A Random Forest is like asking many decision trees (mini-experts) and taking a vote on the answer.</a:t>
            </a: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 Works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opinions beat one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Less likely to make mistakes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complex behavior data well</a:t>
            </a:r>
          </a:p>
        </p:txBody>
      </p:sp>
    </p:spTree>
    <p:extLst>
      <p:ext uri="{BB962C8B-B14F-4D97-AF65-F5344CB8AC3E}">
        <p14:creationId xmlns:p14="http://schemas.microsoft.com/office/powerpoint/2010/main" val="2174722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24D4E-4CF0-9077-EB61-75AB44AB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4753B8EC-C57B-F3DA-4B17-E1BA0D330D38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6762750" cy="509587"/>
          </a:xfrm>
          <a:prstGeom prst="rect">
            <a:avLst/>
          </a:prstGeom>
          <a:noFill/>
          <a:effectLst/>
        </p:spPr>
        <p:txBody>
          <a:bodyPr anchor="ctr">
            <a:normAutofit fontScale="25000" lnSpcReduction="20000"/>
          </a:bodyPr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1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ALGORITHMS</a:t>
            </a: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4C3A8513-DF6A-B00F-300F-48DC05FD094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3544888"/>
            <a:ext cx="6067425" cy="1455737"/>
          </a:xfrm>
        </p:spPr>
        <p:txBody>
          <a:bodyPr/>
          <a:lstStyle/>
          <a:p>
            <a:pPr eaLnBrk="1" hangingPunct="1">
              <a:buFont typeface="Segoe UI" panose="020B0502040204020203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Content Placeholder 2">
            <a:extLst>
              <a:ext uri="{FF2B5EF4-FFF2-40B4-BE49-F238E27FC236}">
                <a16:creationId xmlns:a16="http://schemas.microsoft.com/office/drawing/2014/main" id="{8FF66EC3-1DED-FCC4-93D9-05149BCE0DC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3724275"/>
            <a:ext cx="47625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sp>
        <p:nvSpPr>
          <p:cNvPr id="16389" name="TextBox 2">
            <a:extLst>
              <a:ext uri="{FF2B5EF4-FFF2-40B4-BE49-F238E27FC236}">
                <a16:creationId xmlns:a16="http://schemas.microsoft.com/office/drawing/2014/main" id="{6100BE7E-5E1E-A189-BCE7-A24CF8C41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29" y="731838"/>
            <a:ext cx="8929395" cy="57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5F8EED97-8CA4-ABC3-7479-FA37480AF5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6245" y="3276599"/>
            <a:ext cx="3278155" cy="327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A7A95803-E489-54CE-3107-DC5D57DD6F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38511" y="1233681"/>
            <a:ext cx="2870233" cy="287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89324C9B-77D5-C0EC-D6DB-3240026979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15412" y="3276600"/>
            <a:ext cx="2708988" cy="270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C0CE0B41-27C9-64BB-930D-64C40DE4D5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07D1AB-269E-2520-8122-7184A74CA3DD}"/>
              </a:ext>
            </a:extLst>
          </p:cNvPr>
          <p:cNvSpPr txBox="1"/>
          <p:nvPr/>
        </p:nvSpPr>
        <p:spPr>
          <a:xfrm>
            <a:off x="273892" y="1327640"/>
            <a:ext cx="8720818" cy="564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Random Forest Works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is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 method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combines multiple independent decision trees to make robust predictions.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Bagging approach: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diverse subsets of training data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trees: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tree trained independently on random samples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prediction via majority vote (classification) or averaging (regression)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overfitting: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Ensemble diversity prevents memorization of noise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for Our Project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complex behavioral data well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non-linear relationships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on drug-user classification task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feature importance ranking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59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9BAF-DB28-C35D-F5BC-AC98D3B44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B8FA768B-6648-FBC3-35C3-EDB4E2C69678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6762750" cy="509587"/>
          </a:xfrm>
          <a:prstGeom prst="rect">
            <a:avLst/>
          </a:prstGeom>
          <a:noFill/>
          <a:effectLst/>
        </p:spPr>
        <p:txBody>
          <a:bodyPr anchor="ctr">
            <a:normAutofit fontScale="25000" lnSpcReduction="20000"/>
          </a:bodyPr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1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ALGORITHMS</a:t>
            </a: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10A45314-57F2-30C9-7439-828691B7BB8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3544888"/>
            <a:ext cx="6067425" cy="1455737"/>
          </a:xfrm>
        </p:spPr>
        <p:txBody>
          <a:bodyPr/>
          <a:lstStyle/>
          <a:p>
            <a:pPr eaLnBrk="1" hangingPunct="1">
              <a:buFont typeface="Segoe UI" panose="020B0502040204020203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Content Placeholder 2">
            <a:extLst>
              <a:ext uri="{FF2B5EF4-FFF2-40B4-BE49-F238E27FC236}">
                <a16:creationId xmlns:a16="http://schemas.microsoft.com/office/drawing/2014/main" id="{6526073F-0F02-71ED-B7CA-A94F1E4CFA1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3724275"/>
            <a:ext cx="47625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sp>
        <p:nvSpPr>
          <p:cNvPr id="16389" name="TextBox 2">
            <a:extLst>
              <a:ext uri="{FF2B5EF4-FFF2-40B4-BE49-F238E27FC236}">
                <a16:creationId xmlns:a16="http://schemas.microsoft.com/office/drawing/2014/main" id="{BF309850-3CD1-9B26-B0BC-A5E28F9C8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29" y="731838"/>
            <a:ext cx="8929395" cy="57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 Boost</a:t>
            </a:r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A50A906-5671-4ECA-9F97-86DE3A3469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6245" y="3276599"/>
            <a:ext cx="3278155" cy="327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F7C02DFE-819A-9C20-1250-B96461B487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38511" y="1233681"/>
            <a:ext cx="2870233" cy="287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11F664D4-3F85-7500-1A12-49FF562D94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15412" y="3276600"/>
            <a:ext cx="2708988" cy="270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09B5F247-AF01-2456-77DC-D7C395FA50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43356-97BC-EDF0-CED2-CF4FB1561ED7}"/>
              </a:ext>
            </a:extLst>
          </p:cNvPr>
          <p:cNvSpPr txBox="1"/>
          <p:nvPr/>
        </p:nvSpPr>
        <p:spPr>
          <a:xfrm>
            <a:off x="5943599" y="3428999"/>
            <a:ext cx="1833671" cy="8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Clear XGBoost algorithm workflow diagram showing sequential tree building and error correction process">
            <a:extLst>
              <a:ext uri="{FF2B5EF4-FFF2-40B4-BE49-F238E27FC236}">
                <a16:creationId xmlns:a16="http://schemas.microsoft.com/office/drawing/2014/main" id="{C508ADEA-DC17-28B3-0BD3-9CA10172B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350" y="1764436"/>
            <a:ext cx="3467100" cy="368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3A987F-0682-8E7B-CF25-CC16772FEC44}"/>
              </a:ext>
            </a:extLst>
          </p:cNvPr>
          <p:cNvSpPr txBox="1"/>
          <p:nvPr/>
        </p:nvSpPr>
        <p:spPr>
          <a:xfrm>
            <a:off x="209550" y="1375687"/>
            <a:ext cx="5239528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Simple Idea</a:t>
            </a: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learns by correcting its own mistakes. It builds simple trees one after another, and each new tree fixes errors from the previous one. It's like a student learning gradually, getting better with each lesson.</a:t>
            </a: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 It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data quickly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Great at multi-category predictions (our recency groups)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Makes fewer errors than most algorithms</a:t>
            </a:r>
          </a:p>
        </p:txBody>
      </p:sp>
    </p:spTree>
    <p:extLst>
      <p:ext uri="{BB962C8B-B14F-4D97-AF65-F5344CB8AC3E}">
        <p14:creationId xmlns:p14="http://schemas.microsoft.com/office/powerpoint/2010/main" val="314676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E2BDB-906E-AED3-AE31-E569BEA5A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936BE440-6D94-6C08-CF91-0FFEBC15EC22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6762750" cy="509587"/>
          </a:xfrm>
          <a:prstGeom prst="rect">
            <a:avLst/>
          </a:prstGeom>
          <a:noFill/>
          <a:effectLst/>
        </p:spPr>
        <p:txBody>
          <a:bodyPr anchor="ctr">
            <a:normAutofit fontScale="25000" lnSpcReduction="20000"/>
          </a:bodyPr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1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ALGORITHMS</a:t>
            </a: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DE531EFD-A626-B8A1-9BC4-618A650691D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3544888"/>
            <a:ext cx="6067425" cy="1455737"/>
          </a:xfrm>
        </p:spPr>
        <p:txBody>
          <a:bodyPr/>
          <a:lstStyle/>
          <a:p>
            <a:pPr eaLnBrk="1" hangingPunct="1">
              <a:buFont typeface="Segoe UI" panose="020B0502040204020203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Content Placeholder 2">
            <a:extLst>
              <a:ext uri="{FF2B5EF4-FFF2-40B4-BE49-F238E27FC236}">
                <a16:creationId xmlns:a16="http://schemas.microsoft.com/office/drawing/2014/main" id="{40A44F45-E370-E74B-82FD-B8FE39A9039A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3724275"/>
            <a:ext cx="47625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sp>
        <p:nvSpPr>
          <p:cNvPr id="16389" name="TextBox 2">
            <a:extLst>
              <a:ext uri="{FF2B5EF4-FFF2-40B4-BE49-F238E27FC236}">
                <a16:creationId xmlns:a16="http://schemas.microsoft.com/office/drawing/2014/main" id="{19C6A621-E2FD-1D3B-7760-DB267E274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02" y="633941"/>
            <a:ext cx="8929395" cy="57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 Boost</a:t>
            </a:r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49D0B96-04CB-96FC-36D3-6CF32F48A9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6245" y="3276599"/>
            <a:ext cx="3278155" cy="327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BAFE98F-9D36-B2D9-5C30-DD221FCD01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38511" y="1233681"/>
            <a:ext cx="2870233" cy="287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01C10F85-3205-2A1B-9EE5-0CAEAE510F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15412" y="3276600"/>
            <a:ext cx="2708988" cy="270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1B8BB6BB-DFBC-4A4A-6D72-7B1E80ED9F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601C1-0ABE-6D65-D2F9-89C1F878348F}"/>
              </a:ext>
            </a:extLst>
          </p:cNvPr>
          <p:cNvSpPr txBox="1"/>
          <p:nvPr/>
        </p:nvSpPr>
        <p:spPr>
          <a:xfrm>
            <a:off x="209550" y="1213908"/>
            <a:ext cx="8785160" cy="5940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5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advanced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algorithm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sequentially builds decision trees, with each new tree correcting errors from previous ones.</a:t>
            </a:r>
          </a:p>
          <a:p>
            <a:pPr marL="342900" indent="-342900">
              <a:spcBef>
                <a:spcPts val="4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learning: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Trees built iteratively to minimize residual errors</a:t>
            </a:r>
          </a:p>
          <a:p>
            <a:pPr marL="342900" indent="-342900">
              <a:spcBef>
                <a:spcPts val="4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optimization: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gradient descent to find optimal splits</a:t>
            </a:r>
          </a:p>
          <a:p>
            <a:pPr marL="342900" indent="-342900">
              <a:spcBef>
                <a:spcPts val="4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Built-in L1/L2 penalties prevent overfitting</a:t>
            </a:r>
          </a:p>
          <a:p>
            <a:pPr marL="342900" indent="-342900">
              <a:spcBef>
                <a:spcPts val="4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predictions: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tree contributes based on its performance</a:t>
            </a:r>
          </a:p>
          <a:p>
            <a:pPr marL="342900" indent="-342900">
              <a:spcBef>
                <a:spcPts val="4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for Our Project</a:t>
            </a:r>
          </a:p>
          <a:p>
            <a:pPr marL="342900" indent="-342900">
              <a:spcBef>
                <a:spcPts val="4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for multi-class recency classification</a:t>
            </a:r>
          </a:p>
          <a:p>
            <a:pPr marL="342900" indent="-342900">
              <a:spcBef>
                <a:spcPts val="4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imbalanced data (drug users vs. non-users)</a:t>
            </a:r>
          </a:p>
          <a:p>
            <a:pPr marL="342900" indent="-342900">
              <a:spcBef>
                <a:spcPts val="4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training and inference speed</a:t>
            </a:r>
          </a:p>
          <a:p>
            <a:pPr marL="342900" indent="-342900">
              <a:spcBef>
                <a:spcPts val="4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performance on structured data</a:t>
            </a:r>
          </a:p>
          <a:p>
            <a:pPr>
              <a:spcBef>
                <a:spcPts val="300"/>
              </a:spcBef>
              <a:spcAft>
                <a:spcPts val="30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012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415EC153-8CE7-DC58-899A-8ADA7DED82DB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6762750" cy="509587"/>
          </a:xfrm>
          <a:prstGeom prst="rect">
            <a:avLst/>
          </a:prstGeom>
          <a:noFill/>
          <a:effectLst/>
        </p:spPr>
        <p:txBody>
          <a:bodyPr anchor="ctr">
            <a:normAutofit fontScale="25000" lnSpcReduction="20000"/>
          </a:bodyPr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1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CONCLUSIONS</a:t>
            </a: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E6F67CD8-5EF2-C05A-BC83-9645D984AC2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3544888"/>
            <a:ext cx="6067425" cy="1455737"/>
          </a:xfrm>
        </p:spPr>
        <p:txBody>
          <a:bodyPr/>
          <a:lstStyle/>
          <a:p>
            <a:pPr eaLnBrk="1" hangingPunct="1">
              <a:buFont typeface="Segoe UI" panose="020B0502040204020203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36" name="Content Placeholder 2">
            <a:extLst>
              <a:ext uri="{FF2B5EF4-FFF2-40B4-BE49-F238E27FC236}">
                <a16:creationId xmlns:a16="http://schemas.microsoft.com/office/drawing/2014/main" id="{8C5F4213-E015-1ABF-F57B-20A751973FC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3724275"/>
            <a:ext cx="47625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sp>
        <p:nvSpPr>
          <p:cNvPr id="44037" name="Rectangle 7">
            <a:extLst>
              <a:ext uri="{FF2B5EF4-FFF2-40B4-BE49-F238E27FC236}">
                <a16:creationId xmlns:a16="http://schemas.microsoft.com/office/drawing/2014/main" id="{AC970801-6EFA-AF2C-449D-A377F4CF1F6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9550" y="513707"/>
            <a:ext cx="8607878" cy="538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use affects health and society, making early detection crucial.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analyzes demographic, personality, and behavioral factors.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who uses drugs and when, supporting timely interventions.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Random Forest ensure accurate and reliable predictions.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practical, scalable,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helps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policymakers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the impact of substance abuse.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C3640673-C90E-5441-4D83-48192E37FC05}"/>
              </a:ext>
            </a:extLst>
          </p:cNvPr>
          <p:cNvSpPr txBox="1">
            <a:spLocks noChangeArrowheads="1"/>
          </p:cNvSpPr>
          <p:nvPr/>
        </p:nvSpPr>
        <p:spPr>
          <a:xfrm>
            <a:off x="222250" y="223838"/>
            <a:ext cx="6786563" cy="509587"/>
          </a:xfrm>
          <a:prstGeom prst="rect">
            <a:avLst/>
          </a:prstGeom>
          <a:noFill/>
          <a:effectLst/>
        </p:spPr>
        <p:txBody>
          <a:bodyPr anchor="ctr"/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R</a:t>
            </a:r>
            <a:r>
              <a:rPr lang="en-I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EFERENCES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6E706787-5ADE-4894-B33A-0117C98EF0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4025" y="1604963"/>
            <a:ext cx="8235950" cy="4572000"/>
          </a:xfrm>
        </p:spPr>
        <p:txBody>
          <a:bodyPr/>
          <a:lstStyle/>
          <a:p>
            <a:pPr eaLnBrk="1" hangingPunct="1">
              <a:buFont typeface="Segoe UI" panose="020B0502040204020203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4" name="Content Placeholder 2">
            <a:extLst>
              <a:ext uri="{FF2B5EF4-FFF2-40B4-BE49-F238E27FC236}">
                <a16:creationId xmlns:a16="http://schemas.microsoft.com/office/drawing/2014/main" id="{E0605177-2BD4-EAD6-0F9C-ECD5A57E025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3724275"/>
            <a:ext cx="47625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C038E453-49C5-FB75-A729-D70269B088B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2250" y="3400425"/>
            <a:ext cx="86995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6" name="Rectangle 8">
            <a:extLst>
              <a:ext uri="{FF2B5EF4-FFF2-40B4-BE49-F238E27FC236}">
                <a16:creationId xmlns:a16="http://schemas.microsoft.com/office/drawing/2014/main" id="{9DE88845-0E40-7288-05A4-D173ACF4ECF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22250" y="3494088"/>
            <a:ext cx="7485063" cy="46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7" name="Rectangle 9">
            <a:extLst>
              <a:ext uri="{FF2B5EF4-FFF2-40B4-BE49-F238E27FC236}">
                <a16:creationId xmlns:a16="http://schemas.microsoft.com/office/drawing/2014/main" id="{EF1CA271-A90F-CD35-B72C-3A5007CD745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44500" y="3978275"/>
            <a:ext cx="714692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  <a:p>
            <a:endParaRPr lang="en-US" altLang="en-US"/>
          </a:p>
        </p:txBody>
      </p:sp>
      <p:sp>
        <p:nvSpPr>
          <p:cNvPr id="46088" name="Rectangle 10">
            <a:extLst>
              <a:ext uri="{FF2B5EF4-FFF2-40B4-BE49-F238E27FC236}">
                <a16:creationId xmlns:a16="http://schemas.microsoft.com/office/drawing/2014/main" id="{FCA33B90-3A5E-329F-56AF-C984CABCA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50" y="693738"/>
            <a:ext cx="8235950" cy="560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  <a:p>
            <a:pPr>
              <a:buFontTx/>
              <a:buChar char="•"/>
            </a:pPr>
            <a:r>
              <a:rPr lang="en-US" altLang="en-US" sz="2000"/>
              <a:t>Smith, J., &amp; Lee, R. (2021). </a:t>
            </a:r>
            <a:r>
              <a:rPr lang="en-US" altLang="en-US" sz="2000" i="1"/>
              <a:t>Predicting Substance Use Patterns Using Machine Learning Techniques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</a:t>
            </a:r>
          </a:p>
          <a:p>
            <a:pPr>
              <a:buFontTx/>
              <a:buChar char="•"/>
            </a:pPr>
            <a:r>
              <a:rPr lang="en-US" altLang="en-US" sz="2000"/>
              <a:t>Brown, M., &amp; Garcia, P. (2022). </a:t>
            </a:r>
            <a:r>
              <a:rPr lang="en-US" altLang="en-US" sz="2000" i="1"/>
              <a:t>AI-Driven Insights into Drug Consumption Trends: A Comprehensive Analysis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</a:t>
            </a:r>
          </a:p>
          <a:p>
            <a:pPr>
              <a:buFontTx/>
              <a:buChar char="•"/>
            </a:pPr>
            <a:r>
              <a:rPr lang="en-US" altLang="en-US" sz="2000"/>
              <a:t>Patel, S., &amp; Kumar, V. (2021). </a:t>
            </a:r>
            <a:r>
              <a:rPr lang="en-US" altLang="en-US" sz="2000" i="1"/>
              <a:t>Machine Learning Applications in Understanding Drug Addiction and Relapse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</a:t>
            </a:r>
          </a:p>
          <a:p>
            <a:pPr>
              <a:buFontTx/>
              <a:buChar char="•"/>
            </a:pPr>
            <a:r>
              <a:rPr lang="en-US" altLang="en-US" sz="2000"/>
              <a:t>Johnson, A., &amp; White, L. (2023). </a:t>
            </a:r>
            <a:r>
              <a:rPr lang="en-US" altLang="en-US" sz="2000" i="1"/>
              <a:t>Socio-Demographic Predictors of Drug Use: A Data-Driven Approach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</a:t>
            </a:r>
          </a:p>
          <a:p>
            <a:pPr>
              <a:buFontTx/>
              <a:buChar char="•"/>
            </a:pPr>
            <a:r>
              <a:rPr lang="en-US" altLang="en-US" sz="2000"/>
              <a:t>Zhang, Y., &amp; Lopez, E. (2022). </a:t>
            </a:r>
            <a:r>
              <a:rPr lang="en-US" altLang="en-US" sz="2000" i="1"/>
              <a:t>Temporal Patterns in Drug Consumption: A Predictive Model Using Big Data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</a:t>
            </a:r>
          </a:p>
          <a:p>
            <a:pPr>
              <a:buFontTx/>
              <a:buChar char="•"/>
            </a:pPr>
            <a:r>
              <a:rPr lang="en-US" altLang="en-US" sz="2000"/>
              <a:t>Green, D., &amp; Wilson, H. (2023). </a:t>
            </a:r>
            <a:r>
              <a:rPr lang="en-US" altLang="en-US" sz="2000" i="1"/>
              <a:t>Personalized Interventions for Drug Use Prevention Using Predictive Analytics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</a:t>
            </a:r>
          </a:p>
          <a:p>
            <a:pPr>
              <a:buFontTx/>
              <a:buChar char="•"/>
            </a:pPr>
            <a:r>
              <a:rPr lang="en-US" altLang="en-US" sz="2000"/>
              <a:t>Martinez, F., &amp; Taylor, K. (2021). </a:t>
            </a:r>
            <a:r>
              <a:rPr lang="en-US" altLang="en-US" sz="2000" i="1"/>
              <a:t>Behavioral and Psychological Factors in Substance Abuse Prediction Models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</a:t>
            </a:r>
          </a:p>
          <a:p>
            <a:pPr>
              <a:buFontTx/>
              <a:buChar char="•"/>
            </a:pPr>
            <a:r>
              <a:rPr lang="en-US" altLang="en-US" sz="2000"/>
              <a:t>Carter, N., &amp; Singh, R. (2023). </a:t>
            </a:r>
            <a:r>
              <a:rPr lang="en-US" altLang="en-US" sz="2000" i="1"/>
              <a:t>Dynamic Risk Assessment of Drug Usage Patterns with Advanced Machine Learning Models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>
            <a:extLst>
              <a:ext uri="{FF2B5EF4-FFF2-40B4-BE49-F238E27FC236}">
                <a16:creationId xmlns:a16="http://schemas.microsoft.com/office/drawing/2014/main" id="{DF137C8F-9AF8-FBE6-CA1B-8E574FA8E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3429000"/>
            <a:ext cx="53689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1800"/>
              </a:lnSpc>
              <a:spcAft>
                <a:spcPts val="600"/>
              </a:spcAft>
            </a:pPr>
            <a:r>
              <a:rPr lang="en-US" altLang="en-US" sz="660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Batch-2 Zero Review</Template>
  <TotalTime>245</TotalTime>
  <Words>1202</Words>
  <Application>Microsoft Office PowerPoint</Application>
  <PresentationFormat>On-screen Show (4:3)</PresentationFormat>
  <Paragraphs>162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Century Gothic</vt:lpstr>
      <vt:lpstr>Segoe UI</vt:lpstr>
      <vt:lpstr>Times New Roman</vt:lpstr>
      <vt:lpstr>Wingdings</vt:lpstr>
      <vt:lpstr>Get Started with 3D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Kamakshi Iswarya</dc:creator>
  <cp:lastModifiedBy>Kamakshi Iswarya</cp:lastModifiedBy>
  <cp:revision>2</cp:revision>
  <cp:lastPrinted>2020-07-22T06:23:00Z</cp:lastPrinted>
  <dcterms:created xsi:type="dcterms:W3CDTF">2025-10-23T14:43:30Z</dcterms:created>
  <dcterms:modified xsi:type="dcterms:W3CDTF">2025-10-29T10:45:06Z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1033-11.2.0.10132</vt:lpwstr>
  </property>
</Properties>
</file>