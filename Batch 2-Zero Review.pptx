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1458" r:id="rId3"/>
    <p:sldId id="1331" r:id="rId4"/>
    <p:sldId id="1448" r:id="rId5"/>
    <p:sldId id="1453" r:id="rId6"/>
    <p:sldId id="1454" r:id="rId7"/>
    <p:sldId id="1452" r:id="rId8"/>
    <p:sldId id="1450" r:id="rId9"/>
    <p:sldId id="1433" r:id="rId10"/>
  </p:sldIdLst>
  <p:sldSz cx="9144000" cy="6858000" type="screen4x3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5F5"/>
    <a:srgbClr val="E4463B"/>
    <a:srgbClr val="E34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D0B4EA-707E-4698-AE0F-EC5CCBA04331}" v="5" dt="2026-01-04T06:31:05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98" autoAdjust="0"/>
  </p:normalViewPr>
  <p:slideViewPr>
    <p:cSldViewPr snapToGrid="0">
      <p:cViewPr varScale="1">
        <p:scale>
          <a:sx n="82" d="100"/>
          <a:sy n="82" d="100"/>
        </p:scale>
        <p:origin x="150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3" d="100"/>
          <a:sy n="63" d="100"/>
        </p:scale>
        <p:origin x="313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makshi Iswarya" userId="de7a915746805e67" providerId="LiveId" clId="{1350C8F5-DFAB-49A5-A210-D85427E91D7B}"/>
    <pc:docChg chg="undo custSel modSld">
      <pc:chgData name="Kamakshi Iswarya" userId="de7a915746805e67" providerId="LiveId" clId="{1350C8F5-DFAB-49A5-A210-D85427E91D7B}" dt="2026-01-04T06:31:14.590" v="29" actId="12"/>
      <pc:docMkLst>
        <pc:docMk/>
      </pc:docMkLst>
      <pc:sldChg chg="modSp mod">
        <pc:chgData name="Kamakshi Iswarya" userId="de7a915746805e67" providerId="LiveId" clId="{1350C8F5-DFAB-49A5-A210-D85427E91D7B}" dt="2026-01-04T06:30:17.617" v="26" actId="2710"/>
        <pc:sldMkLst>
          <pc:docMk/>
          <pc:sldMk cId="0" sldId="256"/>
        </pc:sldMkLst>
        <pc:spChg chg="mod">
          <ac:chgData name="Kamakshi Iswarya" userId="de7a915746805e67" providerId="LiveId" clId="{1350C8F5-DFAB-49A5-A210-D85427E91D7B}" dt="2026-01-04T06:30:17.617" v="26" actId="2710"/>
          <ac:spMkLst>
            <pc:docMk/>
            <pc:sldMk cId="0" sldId="256"/>
            <ac:spMk id="6" creationId="{B0E11F57-1A30-FD5F-E4ED-C0271A86E91F}"/>
          </ac:spMkLst>
        </pc:spChg>
        <pc:spChg chg="mod">
          <ac:chgData name="Kamakshi Iswarya" userId="de7a915746805e67" providerId="LiveId" clId="{1350C8F5-DFAB-49A5-A210-D85427E91D7B}" dt="2026-01-04T06:29:22.404" v="22" actId="20577"/>
          <ac:spMkLst>
            <pc:docMk/>
            <pc:sldMk cId="0" sldId="256"/>
            <ac:spMk id="8195" creationId="{8BC4486A-70DF-482B-6419-65F7A4159B5A}"/>
          </ac:spMkLst>
        </pc:spChg>
      </pc:sldChg>
      <pc:sldChg chg="modSp">
        <pc:chgData name="Kamakshi Iswarya" userId="de7a915746805e67" providerId="LiveId" clId="{1350C8F5-DFAB-49A5-A210-D85427E91D7B}" dt="2026-01-04T06:30:46.311" v="27"/>
        <pc:sldMkLst>
          <pc:docMk/>
          <pc:sldMk cId="0" sldId="1331"/>
        </pc:sldMkLst>
        <pc:spChg chg="mod">
          <ac:chgData name="Kamakshi Iswarya" userId="de7a915746805e67" providerId="LiveId" clId="{1350C8F5-DFAB-49A5-A210-D85427E91D7B}" dt="2026-01-04T06:30:46.311" v="27"/>
          <ac:spMkLst>
            <pc:docMk/>
            <pc:sldMk cId="0" sldId="1331"/>
            <ac:spMk id="2" creationId="{8090B668-51D9-B65A-B90D-F25D0F736372}"/>
          </ac:spMkLst>
        </pc:spChg>
      </pc:sldChg>
      <pc:sldChg chg="modSp">
        <pc:chgData name="Kamakshi Iswarya" userId="de7a915746805e67" providerId="LiveId" clId="{1350C8F5-DFAB-49A5-A210-D85427E91D7B}" dt="2026-01-04T06:31:05.270" v="28"/>
        <pc:sldMkLst>
          <pc:docMk/>
          <pc:sldMk cId="0" sldId="1448"/>
        </pc:sldMkLst>
        <pc:spChg chg="mod">
          <ac:chgData name="Kamakshi Iswarya" userId="de7a915746805e67" providerId="LiveId" clId="{1350C8F5-DFAB-49A5-A210-D85427E91D7B}" dt="2026-01-04T06:31:05.270" v="28"/>
          <ac:spMkLst>
            <pc:docMk/>
            <pc:sldMk cId="0" sldId="1448"/>
            <ac:spMk id="2" creationId="{C0071D1C-6C2C-A77B-C605-BD44F74FE9F0}"/>
          </ac:spMkLst>
        </pc:spChg>
      </pc:sldChg>
      <pc:sldChg chg="modSp mod">
        <pc:chgData name="Kamakshi Iswarya" userId="de7a915746805e67" providerId="LiveId" clId="{1350C8F5-DFAB-49A5-A210-D85427E91D7B}" dt="2026-01-04T06:31:14.590" v="29" actId="12"/>
        <pc:sldMkLst>
          <pc:docMk/>
          <pc:sldMk cId="0" sldId="1458"/>
        </pc:sldMkLst>
        <pc:spChg chg="mod">
          <ac:chgData name="Kamakshi Iswarya" userId="de7a915746805e67" providerId="LiveId" clId="{1350C8F5-DFAB-49A5-A210-D85427E91D7B}" dt="2026-01-04T06:31:14.590" v="29" actId="12"/>
          <ac:spMkLst>
            <pc:docMk/>
            <pc:sldMk cId="0" sldId="1458"/>
            <ac:spMk id="2" creationId="{217CF0A6-7F2C-E842-0FC0-B5EE7108250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8DE1330-38DC-FB74-73BA-004F762563C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DC0398-6F2D-1943-6B50-FCCD91FA630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880BDB6-B0BE-4DB0-909D-F99DFF44ED42}" type="datetimeFigureOut">
              <a:rPr lang="en-IN"/>
              <a:pPr>
                <a:defRPr/>
              </a:pPr>
              <a:t>04-01-2026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31E36-AC3D-651D-6D9E-4CE03902107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9C2220-EBE0-EC81-3907-523A20CAD75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FE9248A-B95D-4E6D-A2FF-4C9A6475711B}" type="slidenum">
              <a:rPr lang="en-IN" altLang="en-US"/>
              <a:pPr>
                <a:defRPr/>
              </a:pPr>
              <a:t>‹#›</a:t>
            </a:fld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34C672-A0B9-3CD0-4363-BE45425553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7D973F-E43C-1776-84DB-BAA2973C098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508538C-AC1A-4D11-9765-92F998B576F4}" type="datetimeFigureOut">
              <a:rPr lang="en-US"/>
              <a:pPr>
                <a:defRPr/>
              </a:pPr>
              <a:t>1/4/2026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13ADCF6F-498B-D3DC-F619-7E5FAA95F3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677700C-4396-88B8-CD03-06F5641F1F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DFDF5-3717-C7CD-5B93-800D56D570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B0BF28-9CFA-F516-E36D-FF8A334DA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8896794-9A5A-4B7D-9F53-9D5DA59E2AD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-Shape 1">
            <a:extLst>
              <a:ext uri="{FF2B5EF4-FFF2-40B4-BE49-F238E27FC236}">
                <a16:creationId xmlns:a16="http://schemas.microsoft.com/office/drawing/2014/main" id="{892A5844-EB1C-7644-57F0-5E87CB85806E}"/>
              </a:ext>
            </a:extLst>
          </p:cNvPr>
          <p:cNvSpPr/>
          <p:nvPr userDrawn="1"/>
        </p:nvSpPr>
        <p:spPr>
          <a:xfrm rot="10800000">
            <a:off x="1916113" y="0"/>
            <a:ext cx="7227887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L-Shape 2">
            <a:extLst>
              <a:ext uri="{FF2B5EF4-FFF2-40B4-BE49-F238E27FC236}">
                <a16:creationId xmlns:a16="http://schemas.microsoft.com/office/drawing/2014/main" id="{6505BF5F-CBFA-FA62-7BD1-CFF62E4E49CD}"/>
              </a:ext>
            </a:extLst>
          </p:cNvPr>
          <p:cNvSpPr/>
          <p:nvPr userDrawn="1"/>
        </p:nvSpPr>
        <p:spPr>
          <a:xfrm>
            <a:off x="0" y="1682750"/>
            <a:ext cx="7227888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Box 16">
            <a:extLst>
              <a:ext uri="{FF2B5EF4-FFF2-40B4-BE49-F238E27FC236}">
                <a16:creationId xmlns:a16="http://schemas.microsoft.com/office/drawing/2014/main" id="{198F1301-60B8-EDCE-FCFF-8FF41A402D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359650" y="6607175"/>
            <a:ext cx="1617663" cy="2508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US" altLang="en-US" sz="900" b="1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      Pg. </a:t>
            </a:r>
            <a:fld id="{134936F6-54BE-440D-AEDD-DC9993E9AFD1}" type="slidenum">
              <a:rPr lang="en-US" altLang="en-US" sz="900" b="1" smtClean="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pPr eaLnBrk="1" hangingPunct="1">
                <a:spcAft>
                  <a:spcPts val="600"/>
                </a:spcAft>
                <a:defRPr/>
              </a:pPr>
              <a:t>‹#›</a:t>
            </a:fld>
            <a:endParaRPr lang="en-US" altLang="en-US" sz="900" b="1">
              <a:solidFill>
                <a:srgbClr val="7F7F7F"/>
              </a:solidFill>
              <a:latin typeface="Century Gothic" panose="020B0502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17">
            <a:extLst>
              <a:ext uri="{FF2B5EF4-FFF2-40B4-BE49-F238E27FC236}">
                <a16:creationId xmlns:a16="http://schemas.microsoft.com/office/drawing/2014/main" id="{83EC9D48-BC74-429C-35B6-4FC8D8CC16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177800"/>
            <a:ext cx="2276475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88686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6C2636-9C1A-C00A-4BBE-16F04917BD18}"/>
              </a:ext>
            </a:extLst>
          </p:cNvPr>
          <p:cNvSpPr/>
          <p:nvPr userDrawn="1"/>
        </p:nvSpPr>
        <p:spPr>
          <a:xfrm>
            <a:off x="190500" y="263525"/>
            <a:ext cx="8763000" cy="633095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A0C007-9002-FFF9-4FBE-DB346C753CBD}"/>
              </a:ext>
            </a:extLst>
          </p:cNvPr>
          <p:cNvSpPr/>
          <p:nvPr userDrawn="1"/>
        </p:nvSpPr>
        <p:spPr bwMode="blackWhite">
          <a:xfrm>
            <a:off x="190500" y="263525"/>
            <a:ext cx="8763000" cy="207168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350"/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A9FBD0F9-8C8D-B96C-D7AB-86FA45ED1A7D}"/>
              </a:ext>
            </a:extLst>
          </p:cNvPr>
          <p:cNvSpPr/>
          <p:nvPr userDrawn="1"/>
        </p:nvSpPr>
        <p:spPr>
          <a:xfrm rot="10800000">
            <a:off x="1916113" y="0"/>
            <a:ext cx="7227887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L-Shape 4">
            <a:extLst>
              <a:ext uri="{FF2B5EF4-FFF2-40B4-BE49-F238E27FC236}">
                <a16:creationId xmlns:a16="http://schemas.microsoft.com/office/drawing/2014/main" id="{4B081B91-A52A-FC9F-0405-36F605754822}"/>
              </a:ext>
            </a:extLst>
          </p:cNvPr>
          <p:cNvSpPr/>
          <p:nvPr userDrawn="1"/>
        </p:nvSpPr>
        <p:spPr>
          <a:xfrm>
            <a:off x="0" y="1682750"/>
            <a:ext cx="7227888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TextBox 18">
            <a:extLst>
              <a:ext uri="{FF2B5EF4-FFF2-40B4-BE49-F238E27FC236}">
                <a16:creationId xmlns:a16="http://schemas.microsoft.com/office/drawing/2014/main" id="{4064ED4D-7BFF-5D53-FBE1-68F8048A8AE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804150" y="6542088"/>
            <a:ext cx="781050" cy="230187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US" altLang="en-US" sz="90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Pg. </a:t>
            </a:r>
            <a:fld id="{B341FE4B-896A-443F-A925-59588A154E7C}" type="slidenum">
              <a:rPr lang="en-US" altLang="en-US" sz="900" smtClean="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pPr eaLnBrk="1" hangingPunct="1">
                <a:spcAft>
                  <a:spcPts val="600"/>
                </a:spcAft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  <a:latin typeface="Century Gothic" panose="020B0502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404622" y="2560320"/>
            <a:ext cx="7084314" cy="3977640"/>
          </a:xfrm>
        </p:spPr>
        <p:txBody>
          <a:bodyPr rtlCol="0">
            <a:normAutofit/>
          </a:bodyPr>
          <a:lstStyle>
            <a:lvl1pPr>
              <a:defRPr lang="en-US" sz="18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4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1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0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621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3">
            <a:extLst>
              <a:ext uri="{FF2B5EF4-FFF2-40B4-BE49-F238E27FC236}">
                <a16:creationId xmlns:a16="http://schemas.microsoft.com/office/drawing/2014/main" id="{2AAEC32C-EB15-96F6-0DEA-DAD7082244D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542088" y="6505575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600"/>
              </a:spcAft>
              <a:defRPr/>
            </a:pPr>
            <a:endParaRPr lang="en-US" altLang="en-US" sz="12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15">
            <a:extLst>
              <a:ext uri="{FF2B5EF4-FFF2-40B4-BE49-F238E27FC236}">
                <a16:creationId xmlns:a16="http://schemas.microsoft.com/office/drawing/2014/main" id="{F3CDB765-B4E2-FC66-7268-28C18925E2D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312150" y="43338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600"/>
              </a:spcAft>
              <a:defRPr/>
            </a:pPr>
            <a:endParaRPr lang="en-US" altLang="en-US" sz="12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>
            <a:normAutofit/>
          </a:bodyPr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800"/>
            </a:lvl1pPr>
            <a:lvl2pPr marL="300990" indent="5715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6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342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3325" y="1604211"/>
            <a:ext cx="8237348" cy="4572752"/>
          </a:xfrm>
        </p:spPr>
        <p:txBody>
          <a:bodyPr/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800"/>
            </a:lvl1pPr>
            <a:lvl2pPr marL="300990" indent="5715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4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126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818146" y="1507068"/>
            <a:ext cx="3541418" cy="4669896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300990" indent="5715" algn="l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2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3"/>
          </p:nvPr>
        </p:nvSpPr>
        <p:spPr>
          <a:xfrm>
            <a:off x="4987636" y="1507068"/>
            <a:ext cx="3666946" cy="4669896"/>
          </a:xfrm>
        </p:spPr>
        <p:txBody>
          <a:bodyPr anchor="ctr">
            <a:normAutofit/>
          </a:bodyPr>
          <a:lstStyle>
            <a:lvl1pPr marL="0" indent="0">
              <a:spcAft>
                <a:spcPts val="900"/>
              </a:spcAft>
              <a:buSzPct val="25000"/>
              <a:buFont typeface="Segoe UI" panose="020B0502040204020203" pitchFamily="34" charset="0"/>
              <a:buChar char=" "/>
              <a:defRPr sz="1200"/>
            </a:lvl1pPr>
            <a:lvl2pPr marL="300990" indent="5715">
              <a:spcBef>
                <a:spcPts val="450"/>
              </a:spcBef>
              <a:spcAft>
                <a:spcPts val="900"/>
              </a:spcAft>
              <a:buFont typeface="Segoe UI" panose="020B0502040204020203" pitchFamily="34" charset="0"/>
              <a:buChar char=" "/>
              <a:defRPr sz="1200"/>
            </a:lvl2pPr>
            <a:lvl3pPr marL="857250" indent="-171450">
              <a:buFont typeface="Segoe UI" panose="020B0502040204020203" pitchFamily="34" charset="0"/>
              <a:buChar char=" "/>
              <a:defRPr/>
            </a:lvl3pPr>
            <a:lvl4pPr marL="1200150" indent="-171450">
              <a:buFont typeface="Segoe UI" panose="020B0502040204020203" pitchFamily="34" charset="0"/>
              <a:buChar char=" "/>
              <a:defRPr/>
            </a:lvl4pPr>
            <a:lvl5pPr marL="1543050" indent="-171450">
              <a:buFont typeface="Segoe UI" panose="020B0502040204020203" pitchFamily="34" charset="0"/>
              <a:buChar char=" 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1774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372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090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048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1529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628650" y="253514"/>
            <a:ext cx="6599246" cy="479910"/>
          </a:xfrm>
          <a:prstGeom prst="rect">
            <a:avLst/>
          </a:prstGeom>
        </p:spPr>
        <p:txBody>
          <a:bodyPr rtlCol="0">
            <a:normAutofit/>
          </a:bodyPr>
          <a:lstStyle>
            <a:lvl1pPr>
              <a:defRPr sz="220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259206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C07D5AD-DB01-1AF4-84D9-5231EE43DE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54000"/>
            <a:ext cx="6599238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892C3A79-69E2-E6B9-45E0-A9CBD8F370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46682CF-CFC0-397B-D055-29BDEF22AFAC}"/>
              </a:ext>
            </a:extLst>
          </p:cNvPr>
          <p:cNvCxnSpPr/>
          <p:nvPr/>
        </p:nvCxnSpPr>
        <p:spPr>
          <a:xfrm>
            <a:off x="49213" y="685800"/>
            <a:ext cx="7215187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9" name="TextBox 8">
            <a:extLst>
              <a:ext uri="{FF2B5EF4-FFF2-40B4-BE49-F238E27FC236}">
                <a16:creationId xmlns:a16="http://schemas.microsoft.com/office/drawing/2014/main" id="{7E26CA56-9062-C302-2B8B-B412C6A852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20175" y="1196975"/>
            <a:ext cx="685800" cy="914400"/>
          </a:xfrm>
          <a:prstGeom prst="rect">
            <a:avLst/>
          </a:prstGeom>
          <a:noFill/>
          <a:ln>
            <a:noFill/>
          </a:ln>
        </p:spPr>
        <p:txBody>
          <a:bodyPr wrap="none" lIns="68580" tIns="34290" rIns="68580" bIns="3429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350"/>
              </a:lnSpc>
              <a:spcAft>
                <a:spcPts val="450"/>
              </a:spcAft>
              <a:defRPr/>
            </a:pPr>
            <a:endParaRPr lang="en-IN" altLang="en-US" sz="900">
              <a:solidFill>
                <a:srgbClr val="40404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A266F02-2B3F-4F6A-4DAA-C0CAC825FCEC}"/>
              </a:ext>
            </a:extLst>
          </p:cNvPr>
          <p:cNvSpPr txBox="1"/>
          <p:nvPr/>
        </p:nvSpPr>
        <p:spPr>
          <a:xfrm>
            <a:off x="8820150" y="449263"/>
            <a:ext cx="311150" cy="228600"/>
          </a:xfrm>
          <a:prstGeom prst="rect">
            <a:avLst/>
          </a:prstGeom>
        </p:spPr>
        <p:txBody>
          <a:bodyPr lIns="68580" tIns="34290" rIns="68580" bIns="34290"/>
          <a:lstStyle/>
          <a:p>
            <a:pPr eaLnBrk="1" fontAlgn="auto" hangingPunct="1">
              <a:lnSpc>
                <a:spcPts val="1350"/>
              </a:lnSpc>
              <a:spcBef>
                <a:spcPts val="0"/>
              </a:spcBef>
              <a:spcAft>
                <a:spcPts val="450"/>
              </a:spcAft>
              <a:defRPr/>
            </a:pPr>
            <a:endParaRPr lang="en-IN" sz="790" b="1" dirty="0">
              <a:solidFill>
                <a:prstClr val="black">
                  <a:lumMod val="75000"/>
                  <a:lumOff val="25000"/>
                </a:prst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L-Shape 3">
            <a:extLst>
              <a:ext uri="{FF2B5EF4-FFF2-40B4-BE49-F238E27FC236}">
                <a16:creationId xmlns:a16="http://schemas.microsoft.com/office/drawing/2014/main" id="{8BBEDF6E-BE1D-14A6-F8B5-ECAFE260905B}"/>
              </a:ext>
            </a:extLst>
          </p:cNvPr>
          <p:cNvSpPr/>
          <p:nvPr/>
        </p:nvSpPr>
        <p:spPr>
          <a:xfrm rot="10800000">
            <a:off x="1916113" y="0"/>
            <a:ext cx="7227887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L-Shape 11">
            <a:extLst>
              <a:ext uri="{FF2B5EF4-FFF2-40B4-BE49-F238E27FC236}">
                <a16:creationId xmlns:a16="http://schemas.microsoft.com/office/drawing/2014/main" id="{35311BA8-1FC2-B853-2909-2A90CCC48BE2}"/>
              </a:ext>
            </a:extLst>
          </p:cNvPr>
          <p:cNvSpPr/>
          <p:nvPr/>
        </p:nvSpPr>
        <p:spPr>
          <a:xfrm>
            <a:off x="0" y="1682750"/>
            <a:ext cx="7227888" cy="5175250"/>
          </a:xfrm>
          <a:prstGeom prst="corner">
            <a:avLst>
              <a:gd name="adj1" fmla="val 1588"/>
              <a:gd name="adj2" fmla="val 1422"/>
            </a:avLst>
          </a:prstGeom>
          <a:solidFill>
            <a:srgbClr val="E4463B"/>
          </a:solidFill>
          <a:ln>
            <a:solidFill>
              <a:srgbClr val="E4463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3" name="TextBox 12">
            <a:extLst>
              <a:ext uri="{FF2B5EF4-FFF2-40B4-BE49-F238E27FC236}">
                <a16:creationId xmlns:a16="http://schemas.microsoft.com/office/drawing/2014/main" id="{C11828E4-7220-D433-FDFF-889171B87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0938" y="6491288"/>
            <a:ext cx="1462087" cy="177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US" altLang="en-US" sz="90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t>    Pg. </a:t>
            </a:r>
            <a:fld id="{88832FFB-06F7-4570-9B67-4E30458F47E2}" type="slidenum">
              <a:rPr lang="en-US" altLang="en-US" sz="900" smtClean="0">
                <a:solidFill>
                  <a:srgbClr val="7F7F7F"/>
                </a:solidFill>
                <a:latin typeface="Century Gothic" panose="020B0502020202020204" pitchFamily="34" charset="0"/>
                <a:cs typeface="Segoe UI" panose="020B0502040204020203" pitchFamily="34" charset="0"/>
              </a:rPr>
              <a:pPr eaLnBrk="1" hangingPunct="1">
                <a:spcAft>
                  <a:spcPts val="600"/>
                </a:spcAft>
                <a:defRPr/>
              </a:pPr>
              <a:t>‹#›</a:t>
            </a:fld>
            <a:endParaRPr lang="en-US" altLang="en-US" sz="900">
              <a:solidFill>
                <a:srgbClr val="7F7F7F"/>
              </a:solidFill>
              <a:latin typeface="Century Gothic" panose="020B0502020202020204" pitchFamily="34" charset="0"/>
              <a:cs typeface="Segoe UI" panose="020B0502040204020203" pitchFamily="34" charset="0"/>
            </a:endParaRPr>
          </a:p>
        </p:txBody>
      </p:sp>
      <p:pic>
        <p:nvPicPr>
          <p:cNvPr id="1034" name="Picture 14">
            <a:extLst>
              <a:ext uri="{FF2B5EF4-FFF2-40B4-BE49-F238E27FC236}">
                <a16:creationId xmlns:a16="http://schemas.microsoft.com/office/drawing/2014/main" id="{CB0356EA-5A84-E532-5CBB-C91A5860C7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9475" y="125413"/>
            <a:ext cx="1771650" cy="630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7" r:id="rId1"/>
    <p:sldLayoutId id="2147483858" r:id="rId2"/>
    <p:sldLayoutId id="2147483859" r:id="rId3"/>
    <p:sldLayoutId id="2147483853" r:id="rId4"/>
    <p:sldLayoutId id="2147483854" r:id="rId5"/>
    <p:sldLayoutId id="2147483855" r:id="rId6"/>
    <p:sldLayoutId id="2147483856" r:id="rId7"/>
    <p:sldLayoutId id="2147483860" r:id="rId8"/>
  </p:sldLayoutIdLst>
  <p:hf hdr="0"/>
  <p:txStyles>
    <p:titleStyle>
      <a:lvl1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en-US" sz="2100" b="1" kern="1200">
          <a:solidFill>
            <a:srgbClr val="C00000"/>
          </a:solidFill>
          <a:latin typeface="+mj-lt"/>
          <a:ea typeface="+mj-ea"/>
          <a:cs typeface="+mj-cs"/>
        </a:defRPr>
      </a:lvl1pPr>
      <a:lvl2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2pPr>
      <a:lvl3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3pPr>
      <a:lvl4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4pPr>
      <a:lvl5pPr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5pPr>
      <a:lvl6pPr marL="4572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6pPr>
      <a:lvl7pPr marL="9144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7pPr>
      <a:lvl8pPr marL="13716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8pPr>
      <a:lvl9pPr marL="1828800" algn="l" defTabSz="6858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100" b="1">
          <a:solidFill>
            <a:srgbClr val="C00000"/>
          </a:solidFill>
          <a:latin typeface="Calibri" panose="020F0502020204030204" pitchFamily="34" charset="0"/>
        </a:defRPr>
      </a:lvl9pPr>
    </p:titleStyle>
    <p:bodyStyle>
      <a:lvl1pPr marL="171450" indent="-171450" algn="l" defTabSz="685800" rtl="0" eaLnBrk="1" fontAlgn="base" hangingPunct="1">
        <a:lnSpc>
          <a:spcPct val="120000"/>
        </a:lnSpc>
        <a:spcBef>
          <a:spcPts val="75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fontAlgn="base" hangingPunct="1">
        <a:lnSpc>
          <a:spcPct val="12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scholar.google.com/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0E11F57-1A30-FD5F-E4ED-C0271A86E91F}"/>
              </a:ext>
            </a:extLst>
          </p:cNvPr>
          <p:cNvSpPr txBox="1"/>
          <p:nvPr/>
        </p:nvSpPr>
        <p:spPr>
          <a:xfrm>
            <a:off x="293688" y="4972050"/>
            <a:ext cx="8556625" cy="1577975"/>
          </a:xfrm>
          <a:prstGeom prst="rect">
            <a:avLst/>
          </a:prstGeom>
        </p:spPr>
        <p:txBody>
          <a:bodyPr/>
          <a:lstStyle/>
          <a:p>
            <a:pPr algn="ctr" defTabSz="685800" eaLnBrk="1" fontAlgn="auto" hangingPunct="1">
              <a:spcAft>
                <a:spcPts val="0"/>
              </a:spcAft>
              <a:defRPr/>
            </a:pP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Department of Computer Science And Engineering</a:t>
            </a:r>
            <a:b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</a:b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 S V COLLEGE OF ENGINEERING</a:t>
            </a:r>
            <a:endParaRPr lang="en-US" altLang="en-US" sz="2000" b="1" dirty="0">
              <a:solidFill>
                <a:srgbClr val="00B0F0"/>
              </a:solidFill>
              <a:latin typeface="Times New Roman" panose="02020603050405020304" pitchFamily="18" charset="0"/>
              <a:ea typeface="+mj-ea"/>
              <a:cs typeface="+mj-cs"/>
            </a:endParaRPr>
          </a:p>
          <a:p>
            <a:pPr algn="ctr" defTabSz="685800" eaLnBrk="1" fontAlgn="auto" hangingPunct="1">
              <a:spcAft>
                <a:spcPts val="0"/>
              </a:spcAft>
              <a:defRPr/>
            </a:pP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(Autonomous)  </a:t>
            </a:r>
          </a:p>
          <a:p>
            <a:pPr algn="ctr" defTabSz="685800" eaLnBrk="1" fontAlgn="auto" hangingPunct="1">
              <a:spcAft>
                <a:spcPts val="0"/>
              </a:spcAft>
              <a:defRPr/>
            </a:pP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Karakambadi Road, Opp. LIC Training Center</a:t>
            </a:r>
            <a:b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</a:br>
            <a:r>
              <a:rPr lang="en-US" altLang="en-US" sz="2000" b="1" dirty="0">
                <a:solidFill>
                  <a:srgbClr val="00B0F0"/>
                </a:solidFill>
                <a:latin typeface="Times New Roman" panose="02020603050405020304" pitchFamily="18" charset="0"/>
                <a:ea typeface="+mj-ea"/>
                <a:cs typeface="+mj-cs"/>
              </a:rPr>
              <a:t>Tirupati-517507</a:t>
            </a:r>
            <a:br>
              <a:rPr lang="en-US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C00000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8195" name="TextBox 5">
            <a:extLst>
              <a:ext uri="{FF2B5EF4-FFF2-40B4-BE49-F238E27FC236}">
                <a16:creationId xmlns:a16="http://schemas.microsoft.com/office/drawing/2014/main" id="{8BC4486A-70DF-482B-6419-65F7A4159B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3860800"/>
            <a:ext cx="4419600" cy="12187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1450" indent="-171450" defTabSz="685800">
              <a:lnSpc>
                <a:spcPct val="12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1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defTabSz="685800">
              <a:lnSpc>
                <a:spcPct val="12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685800" eaLnBrk="0" fontAlgn="base" hangingPunct="0">
              <a:lnSpc>
                <a:spcPct val="120000"/>
              </a:lnSpc>
              <a:spcBef>
                <a:spcPts val="375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1600" b="1" dirty="0">
                <a:solidFill>
                  <a:srgbClr val="00B050"/>
                </a:solidFill>
                <a:latin typeface="Times New Roman" panose="02020603050405020304" pitchFamily="18" charset="0"/>
              </a:rPr>
              <a:t>Under The Guidance of 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alt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 .</a:t>
            </a:r>
            <a:r>
              <a:rPr lang="en-IN" altLang="en-US" sz="20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A.Ganesh</a:t>
            </a:r>
            <a:r>
              <a:rPr lang="en-IN" alt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IN" alt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</a:t>
            </a:r>
            <a:r>
              <a:rPr lang="en-IN" altLang="en-US" sz="1100" b="1" dirty="0" err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Ph.D</a:t>
            </a:r>
            <a:r>
              <a:rPr lang="en-IN" altLang="en-US" sz="11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(PDF)</a:t>
            </a:r>
            <a:endParaRPr lang="en-US" altLang="en-US" sz="11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100000"/>
              </a:lnSpc>
              <a:spcBef>
                <a:spcPts val="0"/>
              </a:spcBef>
              <a:buFontTx/>
              <a:buNone/>
            </a:pPr>
            <a:r>
              <a:rPr lang="en-GB" altLang="en-US" sz="1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Head of the Department</a:t>
            </a:r>
          </a:p>
        </p:txBody>
      </p:sp>
      <p:sp>
        <p:nvSpPr>
          <p:cNvPr id="8196" name="TextBox 5">
            <a:extLst>
              <a:ext uri="{FF2B5EF4-FFF2-40B4-BE49-F238E27FC236}">
                <a16:creationId xmlns:a16="http://schemas.microsoft.com/office/drawing/2014/main" id="{D4AE0440-5DBE-2761-4823-A80913AA84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7829" y="1731963"/>
            <a:ext cx="8070979" cy="2446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>
              <a:lnSpc>
                <a:spcPct val="150000"/>
              </a:lnSpc>
              <a:spcBef>
                <a:spcPct val="20000"/>
              </a:spcBef>
              <a:defRPr/>
            </a:pPr>
            <a:r>
              <a:rPr lang="en-IN" altLang="en-GB" dirty="0">
                <a:solidFill>
                  <a:srgbClr val="C00000"/>
                </a:solidFill>
                <a:latin typeface="Times New Roman" panose="02020603050405020304" pitchFamily="18" charset="0"/>
                <a:ea typeface="Calibri" pitchFamily="34" charset="0"/>
                <a:cs typeface="Times New Roman" panose="02020603050405020304" pitchFamily="18" charset="0"/>
              </a:rPr>
              <a:t>Presented By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CHILLAKURU KAMAKSHI ISWARYA 	   (22BFA05039) 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ASWINI                                                                 (22BFA05028) </a:t>
            </a:r>
          </a:p>
          <a:p>
            <a:pPr>
              <a:lnSpc>
                <a:spcPct val="150000"/>
              </a:lnSpc>
              <a:defRPr/>
            </a:pPr>
            <a:r>
              <a:rPr lang="fi-FI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 K VENKATA MADHU HASITHA                    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(22BFA05030) </a:t>
            </a:r>
          </a:p>
          <a:p>
            <a:pPr>
              <a:lnSpc>
                <a:spcPct val="150000"/>
              </a:lnSpc>
              <a:defRPr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 PAVAN REDDY                                                    (22BFA05045) </a:t>
            </a:r>
          </a:p>
          <a:p>
            <a:pPr>
              <a:defRPr/>
            </a:pPr>
            <a:r>
              <a:rPr lang="en-US" dirty="0">
                <a:solidFill>
                  <a:srgbClr val="000000"/>
                </a:solidFill>
                <a:latin typeface="+mj-lt"/>
              </a:rPr>
              <a:t> </a:t>
            </a:r>
            <a:endParaRPr lang="en-US" dirty="0">
              <a:latin typeface="+mj-lt"/>
            </a:endParaRPr>
          </a:p>
        </p:txBody>
      </p:sp>
      <p:sp>
        <p:nvSpPr>
          <p:cNvPr id="8197" name="Rectangle 8">
            <a:extLst>
              <a:ext uri="{FF2B5EF4-FFF2-40B4-BE49-F238E27FC236}">
                <a16:creationId xmlns:a16="http://schemas.microsoft.com/office/drawing/2014/main" id="{DBD7A807-A699-98F6-7098-5F16BEC49D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0" y="936625"/>
            <a:ext cx="8985250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lnSpc>
                <a:spcPct val="115000"/>
              </a:lnSpc>
            </a:pPr>
            <a:r>
              <a:rPr lang="en-US" altLang="en-US" sz="24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Predicting Substance Consumption Patterns Using Behavioral Analytics and Demographic Details</a:t>
            </a:r>
            <a:endParaRPr lang="en-IN" altLang="en-US" sz="2400" dirty="0">
              <a:solidFill>
                <a:srgbClr val="00B0F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2">
            <a:extLst>
              <a:ext uri="{FF2B5EF4-FFF2-40B4-BE49-F238E27FC236}">
                <a16:creationId xmlns:a16="http://schemas.microsoft.com/office/drawing/2014/main" id="{732F0900-E00D-F9A3-A2FF-E94E4CC2E8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263" y="96838"/>
            <a:ext cx="6929437" cy="636587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IN" altLang="en-US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OUTLINE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7CF0A6-7F2C-E842-0FC0-B5EE7108250C}"/>
              </a:ext>
            </a:extLst>
          </p:cNvPr>
          <p:cNvSpPr/>
          <p:nvPr/>
        </p:nvSpPr>
        <p:spPr>
          <a:xfrm>
            <a:off x="344488" y="933450"/>
            <a:ext cx="8642350" cy="5205413"/>
          </a:xfrm>
          <a:prstGeom prst="rect">
            <a:avLst/>
          </a:prstGeom>
        </p:spPr>
        <p:txBody>
          <a:bodyPr/>
          <a:lstStyle/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Abstract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Introduction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Existing System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Proposed System 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Conclusions</a:t>
            </a:r>
          </a:p>
          <a:p>
            <a:pPr marL="342900" indent="-342900" eaLnBrk="1" fontAlgn="auto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References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solidFill>
                <a:srgbClr val="0070C0"/>
              </a:solidFill>
              <a:latin typeface="+mn-lt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solidFill>
                <a:srgbClr val="0070C0"/>
              </a:solidFill>
              <a:latin typeface="+mn-lt"/>
            </a:endParaRPr>
          </a:p>
          <a:p>
            <a:pPr marL="342900" indent="-34290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sz="3600" b="1" dirty="0">
              <a:solidFill>
                <a:srgbClr val="0070C0"/>
              </a:solidFill>
              <a:latin typeface="+mn-lt"/>
            </a:endParaRPr>
          </a:p>
          <a:p>
            <a:pPr marL="342900" indent="-342900" eaLnBrk="1" fontAlgn="auto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en-US" altLang="en-US" sz="3600" b="1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FBFA3AF8-CCF5-390C-484C-6E76A5363059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7008813" cy="509587"/>
          </a:xfrm>
          <a:prstGeom prst="rect">
            <a:avLst/>
          </a:prstGeom>
          <a:noFill/>
          <a:effectLst/>
        </p:spPr>
        <p:txBody>
          <a:bodyPr anchor="ctr"/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ABSTRACT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935EA07-2C34-2991-211D-ADC949FE87B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Content Placeholder 2">
            <a:extLst>
              <a:ext uri="{FF2B5EF4-FFF2-40B4-BE49-F238E27FC236}">
                <a16:creationId xmlns:a16="http://schemas.microsoft.com/office/drawing/2014/main" id="{CED3E69A-0BBF-A5DC-1BAA-5B6F54C05774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090B668-51D9-B65A-B90D-F25D0F736372}"/>
              </a:ext>
            </a:extLst>
          </p:cNvPr>
          <p:cNvSpPr txBox="1">
            <a:spLocks noChangeArrowheads="1"/>
          </p:cNvSpPr>
          <p:nvPr/>
        </p:nvSpPr>
        <p:spPr>
          <a:xfrm>
            <a:off x="279919" y="271463"/>
            <a:ext cx="8573570" cy="7090390"/>
          </a:xfrm>
          <a:prstGeom prst="rect">
            <a:avLst/>
          </a:prstGeom>
          <a:noFill/>
          <a:effectLst/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Substance use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become a major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health and social challenge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detection and classification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drug users can help prevent addiction and guide interventions.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proposes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framework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analyzes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demographic, socio-economic, psychological, and behavioral attributes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predict drug usage.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high-performance models —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are implemented to perform:</a:t>
            </a:r>
          </a:p>
          <a:p>
            <a:pPr marL="2228850" lvl="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user classification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28850" lvl="4" indent="-45720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Recency prediction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(when a person last used drugs)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intelligent, data-driven approach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early identification of at-risk individuals, enabling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timely prevention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policy-level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defRPr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defRPr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Drug Prediction, Behavioral Analytics, Early Detection, Recency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08EC7F1-C38E-CC7D-C16E-F2C807ACA0C5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7008813" cy="509587"/>
          </a:xfrm>
          <a:prstGeom prst="rect">
            <a:avLst/>
          </a:prstGeom>
          <a:noFill/>
          <a:effectLst/>
        </p:spPr>
        <p:txBody>
          <a:bodyPr anchor="ctr"/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B445CF9F-743E-756D-F0F3-85EE00DA2CA0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Content Placeholder 2">
            <a:extLst>
              <a:ext uri="{FF2B5EF4-FFF2-40B4-BE49-F238E27FC236}">
                <a16:creationId xmlns:a16="http://schemas.microsoft.com/office/drawing/2014/main" id="{02E208E8-53D5-06A6-20D8-F15AAB8BB83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C0071D1C-6C2C-A77B-C605-BD44F74FE9F0}"/>
              </a:ext>
            </a:extLst>
          </p:cNvPr>
          <p:cNvSpPr txBox="1">
            <a:spLocks noChangeArrowheads="1"/>
          </p:cNvSpPr>
          <p:nvPr/>
        </p:nvSpPr>
        <p:spPr>
          <a:xfrm>
            <a:off x="284163" y="849087"/>
            <a:ext cx="8332787" cy="6148614"/>
          </a:xfrm>
          <a:prstGeom prst="rect">
            <a:avLst/>
          </a:prstGeom>
          <a:noFill/>
          <a:effectLst/>
        </p:spPr>
        <p:txBody>
          <a:bodyPr/>
          <a:lstStyle/>
          <a:p>
            <a:pPr marL="285750" indent="-285750" algn="just" defTabSz="68580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sz="2400" b="1" dirty="0"/>
          </a:p>
          <a:p>
            <a:pPr marL="285750" indent="-285750" algn="just" defTabSz="685800" eaLnBrk="1" fontAlgn="auto" hangingPunct="1"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sz="2400" b="1" dirty="0"/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Drug addiction is a serious public health issue affecting both individuals and society.</a:t>
            </a:r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Traditional detection methods rely on medical tests or self-reports, which are often inaccurate.</a:t>
            </a:r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Machine learning can help analyze behavioral, psychological, and demographic data to detect risk early.</a:t>
            </a:r>
          </a:p>
          <a:p>
            <a:pPr marL="342900" indent="-342900" algn="just" defTabSz="685800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This project aims to build a predictive model to identify drug users and estimate the recency of their usage.</a:t>
            </a:r>
            <a:endParaRPr lang="en-US" sz="2400" b="1" dirty="0"/>
          </a:p>
        </p:txBody>
      </p:sp>
      <p:sp>
        <p:nvSpPr>
          <p:cNvPr id="11270" name="Rectangle 7">
            <a:extLst>
              <a:ext uri="{FF2B5EF4-FFF2-40B4-BE49-F238E27FC236}">
                <a16:creationId xmlns:a16="http://schemas.microsoft.com/office/drawing/2014/main" id="{4BAC0A64-9F99-C8B4-6AF2-313618A859F3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666750" y="4500563"/>
            <a:ext cx="7308850" cy="4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CEC074E6-0BFE-6959-5EA4-A54E84F7E3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1005738"/>
            <a:ext cx="8020050" cy="5078313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  <a:p>
            <a:pPr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16A1B201-42AB-73C4-8C85-37D8E36DF86E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EXISTING SYSTEM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620C27FC-E736-C946-CA6D-17D6B2C6BB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09550" y="987425"/>
            <a:ext cx="8382000" cy="4572000"/>
          </a:xfrm>
        </p:spPr>
        <p:txBody>
          <a:bodyPr/>
          <a:lstStyle/>
          <a:p>
            <a:pPr marL="342900" indent="-342900" algn="just">
              <a:lnSpc>
                <a:spcPct val="100000"/>
              </a:lnSpc>
              <a:buSzPct val="100000"/>
              <a:buFont typeface="Wingdings" panose="05000000000000000000" pitchFamily="2" charset="2"/>
              <a:buChar char="Ø"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predicting drug addiction using behavioral and physiological variables.</a:t>
            </a:r>
          </a:p>
          <a:p>
            <a:pPr marL="342900" indent="-342900" algn="just">
              <a:lnSpc>
                <a:spcPct val="10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~50 features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irritability, fatigue, skin redness, and motivation loss.</a:t>
            </a:r>
          </a:p>
          <a:p>
            <a:pPr marL="342900" indent="-342900" algn="just">
              <a:lnSpc>
                <a:spcPct val="10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altLang="en-US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RFE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Chi-Square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feature selection.</a:t>
            </a:r>
          </a:p>
          <a:p>
            <a:pPr marL="342900" indent="-342900" algn="just">
              <a:lnSpc>
                <a:spcPct val="10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Mainly performs binary classification — drug user vs non-user.</a:t>
            </a:r>
          </a:p>
          <a:p>
            <a:pPr marL="342900" indent="-342900" algn="just">
              <a:lnSpc>
                <a:spcPct val="10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complex and hard-to-collect physiological data.</a:t>
            </a:r>
          </a:p>
          <a:p>
            <a:pPr marL="342900" indent="-342900" algn="just">
              <a:lnSpc>
                <a:spcPct val="100000"/>
              </a:lnSpc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good insights but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practical for real-world screening.</a:t>
            </a:r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9DEF22F3-D8B3-8EE9-C7FD-8ED92BDA36F0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PROPOSED SYSTEM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6387" name="Content Placeholder 2">
            <a:extLst>
              <a:ext uri="{FF2B5EF4-FFF2-40B4-BE49-F238E27FC236}">
                <a16:creationId xmlns:a16="http://schemas.microsoft.com/office/drawing/2014/main" id="{EA34500C-2E57-C553-8732-0A5CE20CA33C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88" name="Content Placeholder 2">
            <a:extLst>
              <a:ext uri="{FF2B5EF4-FFF2-40B4-BE49-F238E27FC236}">
                <a16:creationId xmlns:a16="http://schemas.microsoft.com/office/drawing/2014/main" id="{AAA9380E-4F77-06B8-3CC6-8E8DF771C95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16389" name="TextBox 2">
            <a:extLst>
              <a:ext uri="{FF2B5EF4-FFF2-40B4-BE49-F238E27FC236}">
                <a16:creationId xmlns:a16="http://schemas.microsoft.com/office/drawing/2014/main" id="{6D1F14A3-A203-853E-95A3-C24B9CE59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731838"/>
            <a:ext cx="8477250" cy="61255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predicting drug usage patterns using fewer and practical features.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only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parameters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Gender, Age,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Nscore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Oscore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Escore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Impulsivity, and Sensation Seeking.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dual prediction: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(1) Whether a person is a drug user or not.</a:t>
            </a:r>
          </a:p>
          <a:p>
            <a:pPr algn="just">
              <a:lnSpc>
                <a:spcPct val="150000"/>
              </a:lnSpc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(2) When the person started using drugs.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SelectKBest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RFE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efficient feature selection.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alt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binary classification and Random Forest for start-time prediction.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Lightweight, practical, and scalable model — </a:t>
            </a:r>
            <a:r>
              <a:rPr lang="en-US" alt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implement in real-life screening tools.</a:t>
            </a:r>
            <a:endParaRPr lang="en-IN" alt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415EC153-8CE7-DC58-899A-8ADA7DED82DB}"/>
              </a:ext>
            </a:extLst>
          </p:cNvPr>
          <p:cNvSpPr txBox="1">
            <a:spLocks noChangeArrowheads="1"/>
          </p:cNvSpPr>
          <p:nvPr/>
        </p:nvSpPr>
        <p:spPr>
          <a:xfrm>
            <a:off x="209550" y="271463"/>
            <a:ext cx="6762750" cy="509587"/>
          </a:xfrm>
          <a:prstGeom prst="rect">
            <a:avLst/>
          </a:prstGeom>
          <a:noFill/>
          <a:effectLst/>
        </p:spPr>
        <p:txBody>
          <a:bodyPr anchor="ctr">
            <a:normAutofit fontScale="25000" lnSpcReduction="20000"/>
          </a:bodyPr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altLang="en-US" sz="1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CONCLUSIONS</a:t>
            </a:r>
          </a:p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IN" altLang="en-US" sz="3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E6F67CD8-5EF2-C05A-BC83-9645D984AC22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457200" y="3544888"/>
            <a:ext cx="6067425" cy="1455737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6" name="Content Placeholder 2">
            <a:extLst>
              <a:ext uri="{FF2B5EF4-FFF2-40B4-BE49-F238E27FC236}">
                <a16:creationId xmlns:a16="http://schemas.microsoft.com/office/drawing/2014/main" id="{8C5F4213-E015-1ABF-F57B-20A751973FCE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AC970801-6EFA-AF2C-449D-A377F4CF1F64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09550" y="-132624"/>
            <a:ext cx="8607878" cy="66739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Drug use affects health and society, making early detection crucial.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analyzes demographic, personality, and behavioral factors.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who uses drugs and when, supporting timely interventions.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 ensure accurate and reliable predictions.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practical, scalable,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helps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policymakers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 the impact of substance abuse.</a:t>
            </a:r>
          </a:p>
          <a:p>
            <a:pPr algn="just">
              <a:lnSpc>
                <a:spcPct val="150000"/>
              </a:lnSpc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C3640673-C90E-5441-4D83-48192E37FC05}"/>
              </a:ext>
            </a:extLst>
          </p:cNvPr>
          <p:cNvSpPr txBox="1">
            <a:spLocks noChangeArrowheads="1"/>
          </p:cNvSpPr>
          <p:nvPr/>
        </p:nvSpPr>
        <p:spPr>
          <a:xfrm>
            <a:off x="222250" y="223838"/>
            <a:ext cx="6786563" cy="509587"/>
          </a:xfrm>
          <a:prstGeom prst="rect">
            <a:avLst/>
          </a:prstGeom>
          <a:noFill/>
          <a:effectLst/>
        </p:spPr>
        <p:txBody>
          <a:bodyPr anchor="ctr"/>
          <a:lstStyle/>
          <a:p>
            <a:pPr defTabSz="685800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R</a:t>
            </a:r>
            <a:r>
              <a:rPr lang="en-IN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j-lt"/>
                <a:ea typeface="+mj-ea"/>
                <a:cs typeface="+mj-cs"/>
              </a:rPr>
              <a:t>EFERENCES</a:t>
            </a:r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6E706787-5ADE-4894-B33A-0117C98EF06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4025" y="1604963"/>
            <a:ext cx="8235950" cy="4572000"/>
          </a:xfrm>
        </p:spPr>
        <p:txBody>
          <a:bodyPr/>
          <a:lstStyle/>
          <a:p>
            <a:pPr eaLnBrk="1" hangingPunct="1">
              <a:buFont typeface="Segoe UI" panose="020B0502040204020203" pitchFamily="34" charset="0"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4" name="Content Placeholder 2">
            <a:extLst>
              <a:ext uri="{FF2B5EF4-FFF2-40B4-BE49-F238E27FC236}">
                <a16:creationId xmlns:a16="http://schemas.microsoft.com/office/drawing/2014/main" id="{E0605177-2BD4-EAD6-0F9C-ECD5A57E025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457200" y="3724275"/>
            <a:ext cx="4762500" cy="2401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20000"/>
              </a:spcBef>
              <a:buFont typeface="Arial" panose="020B0604020202020204" pitchFamily="34" charset="0"/>
              <a:buNone/>
            </a:pPr>
            <a:endParaRPr lang="en-US" altLang="en-US" sz="2400"/>
          </a:p>
          <a:p>
            <a:pPr eaLnBrk="1" hangingPunct="1">
              <a:spcBef>
                <a:spcPct val="20000"/>
              </a:spcBef>
              <a:buFont typeface="Arial" panose="020B0604020202020204" pitchFamily="34" charset="0"/>
              <a:buChar char="•"/>
            </a:pPr>
            <a:endParaRPr lang="en-US" altLang="en-US" sz="2400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C038E453-49C5-FB75-A729-D70269B088B0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22250" y="3400425"/>
            <a:ext cx="8699500" cy="64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6" name="Rectangle 8">
            <a:extLst>
              <a:ext uri="{FF2B5EF4-FFF2-40B4-BE49-F238E27FC236}">
                <a16:creationId xmlns:a16="http://schemas.microsoft.com/office/drawing/2014/main" id="{9DE88845-0E40-7288-05A4-D173ACF4ECF0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222250" y="3494088"/>
            <a:ext cx="7485063" cy="4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Char char="•"/>
            </a:pPr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087" name="Rectangle 9">
            <a:extLst>
              <a:ext uri="{FF2B5EF4-FFF2-40B4-BE49-F238E27FC236}">
                <a16:creationId xmlns:a16="http://schemas.microsoft.com/office/drawing/2014/main" id="{EF1CA271-A90F-CD35-B72C-3A5007CD7456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444500" y="3978275"/>
            <a:ext cx="7146925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  <a:p>
            <a:endParaRPr lang="en-US" altLang="en-US"/>
          </a:p>
        </p:txBody>
      </p:sp>
      <p:sp>
        <p:nvSpPr>
          <p:cNvPr id="46088" name="Rectangle 10">
            <a:extLst>
              <a:ext uri="{FF2B5EF4-FFF2-40B4-BE49-F238E27FC236}">
                <a16:creationId xmlns:a16="http://schemas.microsoft.com/office/drawing/2014/main" id="{FCA33B90-3A5E-329F-56AF-C984CABCA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250" y="693738"/>
            <a:ext cx="8235950" cy="5600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  <a:p>
            <a:pPr>
              <a:buFontTx/>
              <a:buChar char="•"/>
            </a:pPr>
            <a:r>
              <a:rPr lang="en-US" altLang="en-US" sz="2000"/>
              <a:t>Smith, J., &amp; Lee, R. (2021). </a:t>
            </a:r>
            <a:r>
              <a:rPr lang="en-US" altLang="en-US" sz="2000" i="1"/>
              <a:t>Predicting Substance Use Patterns Using Machine Learning Techniques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Brown, M., &amp; Garcia, P. (2022). </a:t>
            </a:r>
            <a:r>
              <a:rPr lang="en-US" altLang="en-US" sz="2000" i="1"/>
              <a:t>AI-Driven Insights into Drug Consumption Trends: A Comprehensive Analysis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Patel, S., &amp; Kumar, V. (2021). </a:t>
            </a:r>
            <a:r>
              <a:rPr lang="en-US" altLang="en-US" sz="2000" i="1"/>
              <a:t>Machine Learning Applications in Understanding Drug Addiction and Relapse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Johnson, A., &amp; White, L. (2023). </a:t>
            </a:r>
            <a:r>
              <a:rPr lang="en-US" altLang="en-US" sz="2000" i="1"/>
              <a:t>Socio-Demographic Predictors of Drug Use: A Data-Driven Approach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Zhang, Y., &amp; Lopez, E. (2022). </a:t>
            </a:r>
            <a:r>
              <a:rPr lang="en-US" altLang="en-US" sz="2000" i="1"/>
              <a:t>Temporal Patterns in Drug Consumption: A Predictive Model Using Big Data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Green, D., &amp; Wilson, H. (2023). </a:t>
            </a:r>
            <a:r>
              <a:rPr lang="en-US" altLang="en-US" sz="2000" i="1"/>
              <a:t>Personalized Interventions for Drug Use Prevention Using Predictive Analytics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Martinez, F., &amp; Taylor, K. (2021). </a:t>
            </a:r>
            <a:r>
              <a:rPr lang="en-US" altLang="en-US" sz="2000" i="1"/>
              <a:t>Behavioral and Psychological Factors in Substance Abuse Prediction Models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</a:t>
            </a:r>
          </a:p>
          <a:p>
            <a:pPr>
              <a:buFontTx/>
              <a:buChar char="•"/>
            </a:pPr>
            <a:r>
              <a:rPr lang="en-US" altLang="en-US" sz="2000"/>
              <a:t>Carter, N., &amp; Singh, R. (2023). </a:t>
            </a:r>
            <a:r>
              <a:rPr lang="en-US" altLang="en-US" sz="2000" i="1"/>
              <a:t>Dynamic Risk Assessment of Drug Usage Patterns with Advanced Machine Learning Models</a:t>
            </a:r>
            <a:r>
              <a:rPr lang="en-US" altLang="en-US" sz="2000"/>
              <a:t>. Retrieved from </a:t>
            </a:r>
            <a:r>
              <a:rPr lang="en-US" altLang="en-US" sz="2000">
                <a:hlinkClick r:id="rId2"/>
              </a:rPr>
              <a:t>Google Scholar</a:t>
            </a:r>
            <a:r>
              <a:rPr lang="en-US" altLang="en-US" sz="2000"/>
              <a:t>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>
            <a:extLst>
              <a:ext uri="{FF2B5EF4-FFF2-40B4-BE49-F238E27FC236}">
                <a16:creationId xmlns:a16="http://schemas.microsoft.com/office/drawing/2014/main" id="{DF137C8F-9AF8-FBE6-CA1B-8E574FA8E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0450" y="3429000"/>
            <a:ext cx="5368925" cy="32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ts val="1800"/>
              </a:lnSpc>
              <a:spcAft>
                <a:spcPts val="600"/>
              </a:spcAft>
            </a:pPr>
            <a:r>
              <a:rPr lang="en-US" altLang="en-US" sz="6600">
                <a:solidFill>
                  <a:srgbClr val="40404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t Started with 3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>
        <a:noAutofit/>
      </a:bodyPr>
      <a:lstStyle>
        <a:defPPr marL="0" indent="0" algn="l">
          <a:lnSpc>
            <a:spcPts val="1800"/>
          </a:lnSpc>
          <a:spcAft>
            <a:spcPts val="600"/>
          </a:spcAft>
          <a:buNone/>
          <a:defRPr sz="1200" dirty="0" smtClean="0">
            <a:solidFill>
              <a:prstClr val="black">
                <a:lumMod val="75000"/>
                <a:lumOff val="25000"/>
              </a:prstClr>
            </a:solidFill>
            <a:latin typeface="Segoe UI" panose="020B0502040204020203" pitchFamily="34" charset="0"/>
            <a:cs typeface="Segoe UI" panose="020B05020402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DYNAMIC_PREDICTION_OF_DRUG_CONSUMPTION_PATTERNS_USING_MACHINE_LEARNING_TECHNIQUES[1][2]_[Autosave</Template>
  <TotalTime>122</TotalTime>
  <Words>746</Words>
  <Application>Microsoft Office PowerPoint</Application>
  <PresentationFormat>On-screen Show (4:3)</PresentationFormat>
  <Paragraphs>96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Century Gothic</vt:lpstr>
      <vt:lpstr>Segoe UI</vt:lpstr>
      <vt:lpstr>Times New Roman</vt:lpstr>
      <vt:lpstr>Wingdings</vt:lpstr>
      <vt:lpstr>Get Started with 3D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Kamakshi Iswarya</dc:creator>
  <cp:lastModifiedBy>Kamakshi Iswarya</cp:lastModifiedBy>
  <cp:revision>2</cp:revision>
  <cp:lastPrinted>2020-07-22T06:23:00Z</cp:lastPrinted>
  <dcterms:created xsi:type="dcterms:W3CDTF">2025-10-07T15:29:48Z</dcterms:created>
  <dcterms:modified xsi:type="dcterms:W3CDTF">2026-01-04T06:31:22Z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1033-11.2.0.10132</vt:lpwstr>
  </property>
</Properties>
</file>